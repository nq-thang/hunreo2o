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roxima Nova Heavy" charset="1" panose="02000506030000020004"/>
      <p:regular r:id="rId17"/>
    </p:embeddedFont>
    <p:embeddedFont>
      <p:font typeface="Proxima Nova Bold" charset="1" panose="02000506030000020004"/>
      <p:regular r:id="rId18"/>
    </p:embeddedFont>
    <p:embeddedFont>
      <p:font typeface="Noto Sans" charset="1" panose="020B0502040504020204"/>
      <p:regular r:id="rId19"/>
    </p:embeddedFont>
    <p:embeddedFont>
      <p:font typeface="Noto Sans Bold" charset="1" panose="020B080204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4223391" cy="11520165"/>
            <a:chOff x="0" y="0"/>
            <a:chExt cx="3746078" cy="3034118"/>
          </a:xfrm>
        </p:grpSpPr>
        <p:sp>
          <p:nvSpPr>
            <p:cNvPr name="Freeform 4" id="4"/>
            <p:cNvSpPr/>
            <p:nvPr/>
          </p:nvSpPr>
          <p:spPr>
            <a:xfrm flipH="false" flipV="false" rot="0">
              <a:off x="0" y="0"/>
              <a:ext cx="3746078" cy="3034118"/>
            </a:xfrm>
            <a:custGeom>
              <a:avLst/>
              <a:gdLst/>
              <a:ahLst/>
              <a:cxnLst/>
              <a:rect r="r" b="b" t="t" l="l"/>
              <a:pathLst>
                <a:path h="3034118" w="3746078">
                  <a:moveTo>
                    <a:pt x="0" y="0"/>
                  </a:moveTo>
                  <a:lnTo>
                    <a:pt x="3746078" y="0"/>
                  </a:lnTo>
                  <a:lnTo>
                    <a:pt x="3746078"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3746078"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7898593"/>
            <a:ext cx="5028120" cy="873835"/>
            <a:chOff x="0" y="0"/>
            <a:chExt cx="1645408" cy="285955"/>
          </a:xfrm>
        </p:grpSpPr>
        <p:sp>
          <p:nvSpPr>
            <p:cNvPr name="Freeform 7" id="7"/>
            <p:cNvSpPr/>
            <p:nvPr/>
          </p:nvSpPr>
          <p:spPr>
            <a:xfrm flipH="false" flipV="false" rot="0">
              <a:off x="0" y="0"/>
              <a:ext cx="1645408" cy="285955"/>
            </a:xfrm>
            <a:custGeom>
              <a:avLst/>
              <a:gdLst/>
              <a:ahLst/>
              <a:cxnLst/>
              <a:rect r="r" b="b" t="t" l="l"/>
              <a:pathLst>
                <a:path h="285955" w="1645408">
                  <a:moveTo>
                    <a:pt x="142977" y="0"/>
                  </a:moveTo>
                  <a:lnTo>
                    <a:pt x="1502431" y="0"/>
                  </a:lnTo>
                  <a:cubicBezTo>
                    <a:pt x="1581395" y="0"/>
                    <a:pt x="1645408" y="64013"/>
                    <a:pt x="1645408" y="142977"/>
                  </a:cubicBezTo>
                  <a:lnTo>
                    <a:pt x="1645408" y="142977"/>
                  </a:lnTo>
                  <a:cubicBezTo>
                    <a:pt x="1645408" y="180897"/>
                    <a:pt x="1630344" y="217264"/>
                    <a:pt x="1603531" y="244078"/>
                  </a:cubicBezTo>
                  <a:cubicBezTo>
                    <a:pt x="1576718" y="270891"/>
                    <a:pt x="1540351" y="285955"/>
                    <a:pt x="1502431" y="285955"/>
                  </a:cubicBezTo>
                  <a:lnTo>
                    <a:pt x="142977" y="285955"/>
                  </a:lnTo>
                  <a:cubicBezTo>
                    <a:pt x="105057" y="285955"/>
                    <a:pt x="68691" y="270891"/>
                    <a:pt x="41877" y="244078"/>
                  </a:cubicBezTo>
                  <a:cubicBezTo>
                    <a:pt x="15064" y="217264"/>
                    <a:pt x="0" y="180897"/>
                    <a:pt x="0" y="142977"/>
                  </a:cubicBezTo>
                  <a:lnTo>
                    <a:pt x="0" y="142977"/>
                  </a:lnTo>
                  <a:cubicBezTo>
                    <a:pt x="0" y="105057"/>
                    <a:pt x="15064" y="68691"/>
                    <a:pt x="41877" y="41877"/>
                  </a:cubicBezTo>
                  <a:cubicBezTo>
                    <a:pt x="68691" y="15064"/>
                    <a:pt x="105057" y="0"/>
                    <a:pt x="142977" y="0"/>
                  </a:cubicBezTo>
                  <a:close/>
                </a:path>
              </a:pathLst>
            </a:custGeom>
            <a:gradFill rotWithShape="true">
              <a:gsLst>
                <a:gs pos="0">
                  <a:srgbClr val="1966DF">
                    <a:alpha val="100000"/>
                  </a:srgbClr>
                </a:gs>
                <a:gs pos="100000">
                  <a:srgbClr val="92BFFF">
                    <a:alpha val="100000"/>
                  </a:srgbClr>
                </a:gs>
              </a:gsLst>
              <a:lin ang="0"/>
            </a:gradFill>
            <a:ln w="38100" cap="rnd">
              <a:solidFill>
                <a:srgbClr val="FFFFFF"/>
              </a:solidFill>
              <a:prstDash val="solid"/>
              <a:round/>
            </a:ln>
          </p:spPr>
        </p:sp>
        <p:sp>
          <p:nvSpPr>
            <p:cNvPr name="TextBox 8" id="8"/>
            <p:cNvSpPr txBox="true"/>
            <p:nvPr/>
          </p:nvSpPr>
          <p:spPr>
            <a:xfrm>
              <a:off x="0" y="-38100"/>
              <a:ext cx="1645408" cy="32405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201735" y="1699882"/>
            <a:ext cx="10056241" cy="2625728"/>
          </a:xfrm>
          <a:prstGeom prst="rect">
            <a:avLst/>
          </a:prstGeom>
        </p:spPr>
        <p:txBody>
          <a:bodyPr anchor="t" rtlCol="false" tIns="0" lIns="0" bIns="0" rIns="0">
            <a:spAutoFit/>
          </a:bodyPr>
          <a:lstStyle/>
          <a:p>
            <a:pPr algn="l">
              <a:lnSpc>
                <a:spcPts val="21742"/>
              </a:lnSpc>
              <a:spcBef>
                <a:spcPct val="0"/>
              </a:spcBef>
            </a:pPr>
            <a:r>
              <a:rPr lang="en-US" b="true" sz="15530">
                <a:gradFill>
                  <a:gsLst>
                    <a:gs pos="0">
                      <a:srgbClr val="1966DF">
                        <a:alpha val="100000"/>
                      </a:srgbClr>
                    </a:gs>
                    <a:gs pos="50000">
                      <a:srgbClr val="3483FF">
                        <a:alpha val="100000"/>
                      </a:srgbClr>
                    </a:gs>
                    <a:gs pos="100000">
                      <a:srgbClr val="92BFFF">
                        <a:alpha val="100000"/>
                      </a:srgbClr>
                    </a:gs>
                  </a:gsLst>
                  <a:lin ang="0"/>
                </a:gradFill>
                <a:latin typeface="Proxima Nova Heavy"/>
                <a:ea typeface="Proxima Nova Heavy"/>
                <a:cs typeface="Proxima Nova Heavy"/>
                <a:sym typeface="Proxima Nova Heavy"/>
              </a:rPr>
              <a:t>BÁO</a:t>
            </a:r>
            <a:r>
              <a:rPr lang="en-US" b="true" sz="15530">
                <a:gradFill>
                  <a:gsLst>
                    <a:gs pos="0">
                      <a:srgbClr val="1966DF">
                        <a:alpha val="100000"/>
                      </a:srgbClr>
                    </a:gs>
                    <a:gs pos="50000">
                      <a:srgbClr val="3483FF">
                        <a:alpha val="100000"/>
                      </a:srgbClr>
                    </a:gs>
                    <a:gs pos="100000">
                      <a:srgbClr val="92BFFF">
                        <a:alpha val="100000"/>
                      </a:srgbClr>
                    </a:gs>
                  </a:gsLst>
                  <a:lin ang="0"/>
                </a:gradFill>
                <a:latin typeface="Proxima Nova Heavy"/>
                <a:ea typeface="Proxima Nova Heavy"/>
                <a:cs typeface="Proxima Nova Heavy"/>
                <a:sym typeface="Proxima Nova Heavy"/>
              </a:rPr>
              <a:t> CÁO</a:t>
            </a:r>
          </a:p>
        </p:txBody>
      </p:sp>
      <p:sp>
        <p:nvSpPr>
          <p:cNvPr name="TextBox 10" id="10"/>
          <p:cNvSpPr txBox="true"/>
          <p:nvPr/>
        </p:nvSpPr>
        <p:spPr>
          <a:xfrm rot="0">
            <a:off x="1201735" y="3859834"/>
            <a:ext cx="11164134" cy="2217116"/>
          </a:xfrm>
          <a:prstGeom prst="rect">
            <a:avLst/>
          </a:prstGeom>
        </p:spPr>
        <p:txBody>
          <a:bodyPr anchor="t" rtlCol="false" tIns="0" lIns="0" bIns="0" rIns="0">
            <a:spAutoFit/>
          </a:bodyPr>
          <a:lstStyle/>
          <a:p>
            <a:pPr algn="l">
              <a:lnSpc>
                <a:spcPts val="9002"/>
              </a:lnSpc>
            </a:pPr>
            <a:r>
              <a:rPr lang="en-US" b="true" sz="6430">
                <a:gradFill>
                  <a:gsLst>
                    <a:gs pos="0">
                      <a:srgbClr val="1966DF">
                        <a:alpha val="100000"/>
                      </a:srgbClr>
                    </a:gs>
                    <a:gs pos="50000">
                      <a:srgbClr val="3483FF">
                        <a:alpha val="100000"/>
                      </a:srgbClr>
                    </a:gs>
                    <a:gs pos="100000">
                      <a:srgbClr val="92BFFF">
                        <a:alpha val="100000"/>
                      </a:srgbClr>
                    </a:gs>
                  </a:gsLst>
                  <a:lin ang="0"/>
                </a:gradFill>
                <a:latin typeface="Proxima Nova Heavy"/>
                <a:ea typeface="Proxima Nova Heavy"/>
                <a:cs typeface="Proxima Nova Heavy"/>
                <a:sym typeface="Proxima Nova Heavy"/>
              </a:rPr>
              <a:t>THỰC HÀNH KIỂM THỬ </a:t>
            </a:r>
          </a:p>
          <a:p>
            <a:pPr algn="l">
              <a:lnSpc>
                <a:spcPts val="9002"/>
              </a:lnSpc>
              <a:spcBef>
                <a:spcPct val="0"/>
              </a:spcBef>
            </a:pPr>
            <a:r>
              <a:rPr lang="en-US" b="true" sz="6430">
                <a:gradFill>
                  <a:gsLst>
                    <a:gs pos="0">
                      <a:srgbClr val="1966DF">
                        <a:alpha val="100000"/>
                      </a:srgbClr>
                    </a:gs>
                    <a:gs pos="50000">
                      <a:srgbClr val="3483FF">
                        <a:alpha val="100000"/>
                      </a:srgbClr>
                    </a:gs>
                    <a:gs pos="100000">
                      <a:srgbClr val="92BFFF">
                        <a:alpha val="100000"/>
                      </a:srgbClr>
                    </a:gs>
                  </a:gsLst>
                  <a:lin ang="0"/>
                </a:gradFill>
                <a:latin typeface="Proxima Nova Heavy"/>
                <a:ea typeface="Proxima Nova Heavy"/>
                <a:cs typeface="Proxima Nova Heavy"/>
                <a:sym typeface="Proxima Nova Heavy"/>
              </a:rPr>
              <a:t>ĐẶT HÀNG VÀ THANH TOÁN</a:t>
            </a:r>
          </a:p>
        </p:txBody>
      </p:sp>
      <p:sp>
        <p:nvSpPr>
          <p:cNvPr name="TextBox 11" id="11"/>
          <p:cNvSpPr txBox="true"/>
          <p:nvPr/>
        </p:nvSpPr>
        <p:spPr>
          <a:xfrm rot="0">
            <a:off x="1028700" y="7999717"/>
            <a:ext cx="5028120" cy="604764"/>
          </a:xfrm>
          <a:prstGeom prst="rect">
            <a:avLst/>
          </a:prstGeom>
        </p:spPr>
        <p:txBody>
          <a:bodyPr anchor="t" rtlCol="false" tIns="0" lIns="0" bIns="0" rIns="0">
            <a:spAutoFit/>
          </a:bodyPr>
          <a:lstStyle/>
          <a:p>
            <a:pPr algn="ctr">
              <a:lnSpc>
                <a:spcPts val="4991"/>
              </a:lnSpc>
              <a:spcBef>
                <a:spcPct val="0"/>
              </a:spcBef>
            </a:pPr>
            <a:r>
              <a:rPr lang="en-US" b="true" sz="3565">
                <a:solidFill>
                  <a:srgbClr val="FFFFFF"/>
                </a:solidFill>
                <a:latin typeface="Proxima Nova Bold"/>
                <a:ea typeface="Proxima Nova Bold"/>
                <a:cs typeface="Proxima Nova Bold"/>
                <a:sym typeface="Proxima Nova Bold"/>
              </a:rPr>
              <a:t>NHÓM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6639491" cy="11520165"/>
            <a:chOff x="0" y="0"/>
            <a:chExt cx="4382417" cy="3034118"/>
          </a:xfrm>
        </p:grpSpPr>
        <p:sp>
          <p:nvSpPr>
            <p:cNvPr name="Freeform 4" id="4"/>
            <p:cNvSpPr/>
            <p:nvPr/>
          </p:nvSpPr>
          <p:spPr>
            <a:xfrm flipH="false" flipV="false" rot="0">
              <a:off x="0" y="0"/>
              <a:ext cx="4382417" cy="3034118"/>
            </a:xfrm>
            <a:custGeom>
              <a:avLst/>
              <a:gdLst/>
              <a:ahLst/>
              <a:cxnLst/>
              <a:rect r="r" b="b" t="t" l="l"/>
              <a:pathLst>
                <a:path h="3034118" w="4382417">
                  <a:moveTo>
                    <a:pt x="0" y="0"/>
                  </a:moveTo>
                  <a:lnTo>
                    <a:pt x="4382417" y="0"/>
                  </a:lnTo>
                  <a:lnTo>
                    <a:pt x="4382417"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4382417"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140157" y="4069986"/>
            <a:ext cx="3896230" cy="4969255"/>
            <a:chOff x="0" y="0"/>
            <a:chExt cx="1241380" cy="1583257"/>
          </a:xfrm>
        </p:grpSpPr>
        <p:sp>
          <p:nvSpPr>
            <p:cNvPr name="Freeform 7" id="7"/>
            <p:cNvSpPr/>
            <p:nvPr/>
          </p:nvSpPr>
          <p:spPr>
            <a:xfrm flipH="false" flipV="false" rot="0">
              <a:off x="0" y="0"/>
              <a:ext cx="1241380" cy="1583257"/>
            </a:xfrm>
            <a:custGeom>
              <a:avLst/>
              <a:gdLst/>
              <a:ahLst/>
              <a:cxnLst/>
              <a:rect r="r" b="b" t="t" l="l"/>
              <a:pathLst>
                <a:path h="1583257" w="1241380">
                  <a:moveTo>
                    <a:pt x="65572" y="0"/>
                  </a:moveTo>
                  <a:lnTo>
                    <a:pt x="1175808" y="0"/>
                  </a:lnTo>
                  <a:cubicBezTo>
                    <a:pt x="1212022" y="0"/>
                    <a:pt x="1241380" y="29358"/>
                    <a:pt x="1241380" y="65572"/>
                  </a:cubicBezTo>
                  <a:lnTo>
                    <a:pt x="1241380" y="1517685"/>
                  </a:lnTo>
                  <a:cubicBezTo>
                    <a:pt x="1241380" y="1553899"/>
                    <a:pt x="1212022" y="1583257"/>
                    <a:pt x="1175808" y="1583257"/>
                  </a:cubicBezTo>
                  <a:lnTo>
                    <a:pt x="65572" y="1583257"/>
                  </a:lnTo>
                  <a:cubicBezTo>
                    <a:pt x="29358" y="1583257"/>
                    <a:pt x="0" y="1553899"/>
                    <a:pt x="0" y="1517685"/>
                  </a:cubicBezTo>
                  <a:lnTo>
                    <a:pt x="0" y="65572"/>
                  </a:lnTo>
                  <a:cubicBezTo>
                    <a:pt x="0" y="29358"/>
                    <a:pt x="29358" y="0"/>
                    <a:pt x="65572"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8" id="8"/>
            <p:cNvSpPr txBox="true"/>
            <p:nvPr/>
          </p:nvSpPr>
          <p:spPr>
            <a:xfrm>
              <a:off x="0" y="-38100"/>
              <a:ext cx="1241380" cy="162135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28700" y="4069986"/>
            <a:ext cx="3896230" cy="4969255"/>
            <a:chOff x="0" y="0"/>
            <a:chExt cx="1241380" cy="1583257"/>
          </a:xfrm>
        </p:grpSpPr>
        <p:sp>
          <p:nvSpPr>
            <p:cNvPr name="Freeform 10" id="10"/>
            <p:cNvSpPr/>
            <p:nvPr/>
          </p:nvSpPr>
          <p:spPr>
            <a:xfrm flipH="false" flipV="false" rot="0">
              <a:off x="0" y="0"/>
              <a:ext cx="1241380" cy="1583257"/>
            </a:xfrm>
            <a:custGeom>
              <a:avLst/>
              <a:gdLst/>
              <a:ahLst/>
              <a:cxnLst/>
              <a:rect r="r" b="b" t="t" l="l"/>
              <a:pathLst>
                <a:path h="1583257" w="1241380">
                  <a:moveTo>
                    <a:pt x="65572" y="0"/>
                  </a:moveTo>
                  <a:lnTo>
                    <a:pt x="1175808" y="0"/>
                  </a:lnTo>
                  <a:cubicBezTo>
                    <a:pt x="1212022" y="0"/>
                    <a:pt x="1241380" y="29358"/>
                    <a:pt x="1241380" y="65572"/>
                  </a:cubicBezTo>
                  <a:lnTo>
                    <a:pt x="1241380" y="1517685"/>
                  </a:lnTo>
                  <a:cubicBezTo>
                    <a:pt x="1241380" y="1553899"/>
                    <a:pt x="1212022" y="1583257"/>
                    <a:pt x="1175808" y="1583257"/>
                  </a:cubicBezTo>
                  <a:lnTo>
                    <a:pt x="65572" y="1583257"/>
                  </a:lnTo>
                  <a:cubicBezTo>
                    <a:pt x="29358" y="1583257"/>
                    <a:pt x="0" y="1553899"/>
                    <a:pt x="0" y="1517685"/>
                  </a:cubicBezTo>
                  <a:lnTo>
                    <a:pt x="0" y="65572"/>
                  </a:lnTo>
                  <a:cubicBezTo>
                    <a:pt x="0" y="29358"/>
                    <a:pt x="29358" y="0"/>
                    <a:pt x="65572"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11" id="11"/>
            <p:cNvSpPr txBox="true"/>
            <p:nvPr/>
          </p:nvSpPr>
          <p:spPr>
            <a:xfrm>
              <a:off x="0" y="-38100"/>
              <a:ext cx="1241380" cy="162135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251613" y="4069986"/>
            <a:ext cx="3896230" cy="4969255"/>
            <a:chOff x="0" y="0"/>
            <a:chExt cx="1241380" cy="1583257"/>
          </a:xfrm>
        </p:grpSpPr>
        <p:sp>
          <p:nvSpPr>
            <p:cNvPr name="Freeform 13" id="13"/>
            <p:cNvSpPr/>
            <p:nvPr/>
          </p:nvSpPr>
          <p:spPr>
            <a:xfrm flipH="false" flipV="false" rot="0">
              <a:off x="0" y="0"/>
              <a:ext cx="1241380" cy="1583257"/>
            </a:xfrm>
            <a:custGeom>
              <a:avLst/>
              <a:gdLst/>
              <a:ahLst/>
              <a:cxnLst/>
              <a:rect r="r" b="b" t="t" l="l"/>
              <a:pathLst>
                <a:path h="1583257" w="1241380">
                  <a:moveTo>
                    <a:pt x="65572" y="0"/>
                  </a:moveTo>
                  <a:lnTo>
                    <a:pt x="1175808" y="0"/>
                  </a:lnTo>
                  <a:cubicBezTo>
                    <a:pt x="1212022" y="0"/>
                    <a:pt x="1241380" y="29358"/>
                    <a:pt x="1241380" y="65572"/>
                  </a:cubicBezTo>
                  <a:lnTo>
                    <a:pt x="1241380" y="1517685"/>
                  </a:lnTo>
                  <a:cubicBezTo>
                    <a:pt x="1241380" y="1553899"/>
                    <a:pt x="1212022" y="1583257"/>
                    <a:pt x="1175808" y="1583257"/>
                  </a:cubicBezTo>
                  <a:lnTo>
                    <a:pt x="65572" y="1583257"/>
                  </a:lnTo>
                  <a:cubicBezTo>
                    <a:pt x="29358" y="1583257"/>
                    <a:pt x="0" y="1553899"/>
                    <a:pt x="0" y="1517685"/>
                  </a:cubicBezTo>
                  <a:lnTo>
                    <a:pt x="0" y="65572"/>
                  </a:lnTo>
                  <a:cubicBezTo>
                    <a:pt x="0" y="29358"/>
                    <a:pt x="29358" y="0"/>
                    <a:pt x="65572"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14" id="14"/>
            <p:cNvSpPr txBox="true"/>
            <p:nvPr/>
          </p:nvSpPr>
          <p:spPr>
            <a:xfrm>
              <a:off x="0" y="-38100"/>
              <a:ext cx="1241380" cy="162135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3363070" y="4069986"/>
            <a:ext cx="3896230" cy="4969255"/>
            <a:chOff x="0" y="0"/>
            <a:chExt cx="1241380" cy="1583257"/>
          </a:xfrm>
        </p:grpSpPr>
        <p:sp>
          <p:nvSpPr>
            <p:cNvPr name="Freeform 16" id="16"/>
            <p:cNvSpPr/>
            <p:nvPr/>
          </p:nvSpPr>
          <p:spPr>
            <a:xfrm flipH="false" flipV="false" rot="0">
              <a:off x="0" y="0"/>
              <a:ext cx="1241380" cy="1583257"/>
            </a:xfrm>
            <a:custGeom>
              <a:avLst/>
              <a:gdLst/>
              <a:ahLst/>
              <a:cxnLst/>
              <a:rect r="r" b="b" t="t" l="l"/>
              <a:pathLst>
                <a:path h="1583257" w="1241380">
                  <a:moveTo>
                    <a:pt x="65572" y="0"/>
                  </a:moveTo>
                  <a:lnTo>
                    <a:pt x="1175808" y="0"/>
                  </a:lnTo>
                  <a:cubicBezTo>
                    <a:pt x="1212022" y="0"/>
                    <a:pt x="1241380" y="29358"/>
                    <a:pt x="1241380" y="65572"/>
                  </a:cubicBezTo>
                  <a:lnTo>
                    <a:pt x="1241380" y="1517685"/>
                  </a:lnTo>
                  <a:cubicBezTo>
                    <a:pt x="1241380" y="1553899"/>
                    <a:pt x="1212022" y="1583257"/>
                    <a:pt x="1175808" y="1583257"/>
                  </a:cubicBezTo>
                  <a:lnTo>
                    <a:pt x="65572" y="1583257"/>
                  </a:lnTo>
                  <a:cubicBezTo>
                    <a:pt x="29358" y="1583257"/>
                    <a:pt x="0" y="1553899"/>
                    <a:pt x="0" y="1517685"/>
                  </a:cubicBezTo>
                  <a:lnTo>
                    <a:pt x="0" y="65572"/>
                  </a:lnTo>
                  <a:cubicBezTo>
                    <a:pt x="0" y="29358"/>
                    <a:pt x="29358" y="0"/>
                    <a:pt x="65572"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17" id="17"/>
            <p:cNvSpPr txBox="true"/>
            <p:nvPr/>
          </p:nvSpPr>
          <p:spPr>
            <a:xfrm>
              <a:off x="0" y="-38100"/>
              <a:ext cx="1241380" cy="1621357"/>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361393" y="4366494"/>
            <a:ext cx="1601207" cy="956283"/>
            <a:chOff x="0" y="0"/>
            <a:chExt cx="606566" cy="362257"/>
          </a:xfrm>
        </p:grpSpPr>
        <p:sp>
          <p:nvSpPr>
            <p:cNvPr name="Freeform 19" id="19"/>
            <p:cNvSpPr/>
            <p:nvPr/>
          </p:nvSpPr>
          <p:spPr>
            <a:xfrm flipH="false" flipV="false" rot="0">
              <a:off x="0" y="0"/>
              <a:ext cx="606566" cy="362257"/>
            </a:xfrm>
            <a:custGeom>
              <a:avLst/>
              <a:gdLst/>
              <a:ahLst/>
              <a:cxnLst/>
              <a:rect r="r" b="b" t="t" l="l"/>
              <a:pathLst>
                <a:path h="362257" w="606566">
                  <a:moveTo>
                    <a:pt x="82196" y="0"/>
                  </a:moveTo>
                  <a:lnTo>
                    <a:pt x="524370" y="0"/>
                  </a:lnTo>
                  <a:cubicBezTo>
                    <a:pt x="569766" y="0"/>
                    <a:pt x="606566" y="36800"/>
                    <a:pt x="606566" y="82196"/>
                  </a:cubicBezTo>
                  <a:lnTo>
                    <a:pt x="606566" y="280061"/>
                  </a:lnTo>
                  <a:cubicBezTo>
                    <a:pt x="606566" y="325457"/>
                    <a:pt x="569766" y="362257"/>
                    <a:pt x="524370" y="362257"/>
                  </a:cubicBezTo>
                  <a:lnTo>
                    <a:pt x="82196" y="362257"/>
                  </a:lnTo>
                  <a:cubicBezTo>
                    <a:pt x="36800" y="362257"/>
                    <a:pt x="0" y="325457"/>
                    <a:pt x="0" y="280061"/>
                  </a:cubicBezTo>
                  <a:lnTo>
                    <a:pt x="0" y="82196"/>
                  </a:lnTo>
                  <a:cubicBezTo>
                    <a:pt x="0" y="36800"/>
                    <a:pt x="36800" y="0"/>
                    <a:pt x="82196"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sq">
              <a:noFill/>
              <a:prstDash val="solid"/>
              <a:miter/>
            </a:ln>
          </p:spPr>
        </p:sp>
        <p:sp>
          <p:nvSpPr>
            <p:cNvPr name="TextBox 20" id="20"/>
            <p:cNvSpPr txBox="true"/>
            <p:nvPr/>
          </p:nvSpPr>
          <p:spPr>
            <a:xfrm>
              <a:off x="0" y="-38100"/>
              <a:ext cx="606566" cy="400357"/>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5469983" y="4366494"/>
            <a:ext cx="1601207" cy="956283"/>
            <a:chOff x="0" y="0"/>
            <a:chExt cx="606566" cy="362257"/>
          </a:xfrm>
        </p:grpSpPr>
        <p:sp>
          <p:nvSpPr>
            <p:cNvPr name="Freeform 22" id="22"/>
            <p:cNvSpPr/>
            <p:nvPr/>
          </p:nvSpPr>
          <p:spPr>
            <a:xfrm flipH="false" flipV="false" rot="0">
              <a:off x="0" y="0"/>
              <a:ext cx="606566" cy="362257"/>
            </a:xfrm>
            <a:custGeom>
              <a:avLst/>
              <a:gdLst/>
              <a:ahLst/>
              <a:cxnLst/>
              <a:rect r="r" b="b" t="t" l="l"/>
              <a:pathLst>
                <a:path h="362257" w="606566">
                  <a:moveTo>
                    <a:pt x="82196" y="0"/>
                  </a:moveTo>
                  <a:lnTo>
                    <a:pt x="524370" y="0"/>
                  </a:lnTo>
                  <a:cubicBezTo>
                    <a:pt x="569766" y="0"/>
                    <a:pt x="606566" y="36800"/>
                    <a:pt x="606566" y="82196"/>
                  </a:cubicBezTo>
                  <a:lnTo>
                    <a:pt x="606566" y="280061"/>
                  </a:lnTo>
                  <a:cubicBezTo>
                    <a:pt x="606566" y="325457"/>
                    <a:pt x="569766" y="362257"/>
                    <a:pt x="524370" y="362257"/>
                  </a:cubicBezTo>
                  <a:lnTo>
                    <a:pt x="82196" y="362257"/>
                  </a:lnTo>
                  <a:cubicBezTo>
                    <a:pt x="36800" y="362257"/>
                    <a:pt x="0" y="325457"/>
                    <a:pt x="0" y="280061"/>
                  </a:cubicBezTo>
                  <a:lnTo>
                    <a:pt x="0" y="82196"/>
                  </a:lnTo>
                  <a:cubicBezTo>
                    <a:pt x="0" y="36800"/>
                    <a:pt x="36800" y="0"/>
                    <a:pt x="82196"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sq">
              <a:noFill/>
              <a:prstDash val="solid"/>
              <a:miter/>
            </a:ln>
          </p:spPr>
        </p:sp>
        <p:sp>
          <p:nvSpPr>
            <p:cNvPr name="TextBox 23" id="23"/>
            <p:cNvSpPr txBox="true"/>
            <p:nvPr/>
          </p:nvSpPr>
          <p:spPr>
            <a:xfrm>
              <a:off x="0" y="-38100"/>
              <a:ext cx="606566" cy="400357"/>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9581439" y="4366494"/>
            <a:ext cx="1601207" cy="956283"/>
            <a:chOff x="0" y="0"/>
            <a:chExt cx="606566" cy="362257"/>
          </a:xfrm>
        </p:grpSpPr>
        <p:sp>
          <p:nvSpPr>
            <p:cNvPr name="Freeform 25" id="25"/>
            <p:cNvSpPr/>
            <p:nvPr/>
          </p:nvSpPr>
          <p:spPr>
            <a:xfrm flipH="false" flipV="false" rot="0">
              <a:off x="0" y="0"/>
              <a:ext cx="606566" cy="362257"/>
            </a:xfrm>
            <a:custGeom>
              <a:avLst/>
              <a:gdLst/>
              <a:ahLst/>
              <a:cxnLst/>
              <a:rect r="r" b="b" t="t" l="l"/>
              <a:pathLst>
                <a:path h="362257" w="606566">
                  <a:moveTo>
                    <a:pt x="82196" y="0"/>
                  </a:moveTo>
                  <a:lnTo>
                    <a:pt x="524370" y="0"/>
                  </a:lnTo>
                  <a:cubicBezTo>
                    <a:pt x="569766" y="0"/>
                    <a:pt x="606566" y="36800"/>
                    <a:pt x="606566" y="82196"/>
                  </a:cubicBezTo>
                  <a:lnTo>
                    <a:pt x="606566" y="280061"/>
                  </a:lnTo>
                  <a:cubicBezTo>
                    <a:pt x="606566" y="325457"/>
                    <a:pt x="569766" y="362257"/>
                    <a:pt x="524370" y="362257"/>
                  </a:cubicBezTo>
                  <a:lnTo>
                    <a:pt x="82196" y="362257"/>
                  </a:lnTo>
                  <a:cubicBezTo>
                    <a:pt x="36800" y="362257"/>
                    <a:pt x="0" y="325457"/>
                    <a:pt x="0" y="280061"/>
                  </a:cubicBezTo>
                  <a:lnTo>
                    <a:pt x="0" y="82196"/>
                  </a:lnTo>
                  <a:cubicBezTo>
                    <a:pt x="0" y="36800"/>
                    <a:pt x="36800" y="0"/>
                    <a:pt x="82196"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sq">
              <a:noFill/>
              <a:prstDash val="solid"/>
              <a:miter/>
            </a:ln>
          </p:spPr>
        </p:sp>
        <p:sp>
          <p:nvSpPr>
            <p:cNvPr name="TextBox 26" id="26"/>
            <p:cNvSpPr txBox="true"/>
            <p:nvPr/>
          </p:nvSpPr>
          <p:spPr>
            <a:xfrm>
              <a:off x="0" y="-38100"/>
              <a:ext cx="606566" cy="400357"/>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3692896" y="4366494"/>
            <a:ext cx="1601207" cy="956283"/>
            <a:chOff x="0" y="0"/>
            <a:chExt cx="606566" cy="362257"/>
          </a:xfrm>
        </p:grpSpPr>
        <p:sp>
          <p:nvSpPr>
            <p:cNvPr name="Freeform 28" id="28"/>
            <p:cNvSpPr/>
            <p:nvPr/>
          </p:nvSpPr>
          <p:spPr>
            <a:xfrm flipH="false" flipV="false" rot="0">
              <a:off x="0" y="0"/>
              <a:ext cx="606566" cy="362257"/>
            </a:xfrm>
            <a:custGeom>
              <a:avLst/>
              <a:gdLst/>
              <a:ahLst/>
              <a:cxnLst/>
              <a:rect r="r" b="b" t="t" l="l"/>
              <a:pathLst>
                <a:path h="362257" w="606566">
                  <a:moveTo>
                    <a:pt x="82196" y="0"/>
                  </a:moveTo>
                  <a:lnTo>
                    <a:pt x="524370" y="0"/>
                  </a:lnTo>
                  <a:cubicBezTo>
                    <a:pt x="569766" y="0"/>
                    <a:pt x="606566" y="36800"/>
                    <a:pt x="606566" y="82196"/>
                  </a:cubicBezTo>
                  <a:lnTo>
                    <a:pt x="606566" y="280061"/>
                  </a:lnTo>
                  <a:cubicBezTo>
                    <a:pt x="606566" y="325457"/>
                    <a:pt x="569766" y="362257"/>
                    <a:pt x="524370" y="362257"/>
                  </a:cubicBezTo>
                  <a:lnTo>
                    <a:pt x="82196" y="362257"/>
                  </a:lnTo>
                  <a:cubicBezTo>
                    <a:pt x="36800" y="362257"/>
                    <a:pt x="0" y="325457"/>
                    <a:pt x="0" y="280061"/>
                  </a:cubicBezTo>
                  <a:lnTo>
                    <a:pt x="0" y="82196"/>
                  </a:lnTo>
                  <a:cubicBezTo>
                    <a:pt x="0" y="36800"/>
                    <a:pt x="36800" y="0"/>
                    <a:pt x="82196"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sq">
              <a:noFill/>
              <a:prstDash val="solid"/>
              <a:miter/>
            </a:ln>
          </p:spPr>
        </p:sp>
        <p:sp>
          <p:nvSpPr>
            <p:cNvPr name="TextBox 29" id="29"/>
            <p:cNvSpPr txBox="true"/>
            <p:nvPr/>
          </p:nvSpPr>
          <p:spPr>
            <a:xfrm>
              <a:off x="0" y="-38100"/>
              <a:ext cx="606566" cy="400357"/>
            </a:xfrm>
            <a:prstGeom prst="rect">
              <a:avLst/>
            </a:prstGeom>
          </p:spPr>
          <p:txBody>
            <a:bodyPr anchor="ctr" rtlCol="false" tIns="50800" lIns="50800" bIns="50800" rIns="50800"/>
            <a:lstStyle/>
            <a:p>
              <a:pPr algn="ctr">
                <a:lnSpc>
                  <a:spcPts val="2659"/>
                </a:lnSpc>
              </a:pPr>
            </a:p>
          </p:txBody>
        </p:sp>
      </p:grpSp>
      <p:sp>
        <p:nvSpPr>
          <p:cNvPr name="AutoShape 30" id="30"/>
          <p:cNvSpPr/>
          <p:nvPr/>
        </p:nvSpPr>
        <p:spPr>
          <a:xfrm>
            <a:off x="1392690" y="8792306"/>
            <a:ext cx="3168250" cy="0"/>
          </a:xfrm>
          <a:prstGeom prst="line">
            <a:avLst/>
          </a:prstGeom>
          <a:ln cap="flat" w="19050">
            <a:solidFill>
              <a:srgbClr val="87949D"/>
            </a:solidFill>
            <a:prstDash val="solid"/>
            <a:headEnd type="none" len="sm" w="sm"/>
            <a:tailEnd type="none" len="sm" w="sm"/>
          </a:ln>
        </p:spPr>
      </p:sp>
      <p:sp>
        <p:nvSpPr>
          <p:cNvPr name="AutoShape 31" id="31"/>
          <p:cNvSpPr/>
          <p:nvPr/>
        </p:nvSpPr>
        <p:spPr>
          <a:xfrm>
            <a:off x="5413142" y="8782781"/>
            <a:ext cx="3168250" cy="0"/>
          </a:xfrm>
          <a:prstGeom prst="line">
            <a:avLst/>
          </a:prstGeom>
          <a:ln cap="flat" w="19050">
            <a:solidFill>
              <a:srgbClr val="87949D"/>
            </a:solidFill>
            <a:prstDash val="solid"/>
            <a:headEnd type="none" len="sm" w="sm"/>
            <a:tailEnd type="none" len="sm" w="sm"/>
          </a:ln>
        </p:spPr>
      </p:sp>
      <p:sp>
        <p:nvSpPr>
          <p:cNvPr name="AutoShape 32" id="32"/>
          <p:cNvSpPr/>
          <p:nvPr/>
        </p:nvSpPr>
        <p:spPr>
          <a:xfrm>
            <a:off x="9615604" y="8765810"/>
            <a:ext cx="3168250" cy="0"/>
          </a:xfrm>
          <a:prstGeom prst="line">
            <a:avLst/>
          </a:prstGeom>
          <a:ln cap="flat" w="19050">
            <a:solidFill>
              <a:srgbClr val="87949D"/>
            </a:solidFill>
            <a:prstDash val="solid"/>
            <a:headEnd type="none" len="sm" w="sm"/>
            <a:tailEnd type="none" len="sm" w="sm"/>
          </a:ln>
        </p:spPr>
      </p:sp>
      <p:sp>
        <p:nvSpPr>
          <p:cNvPr name="AutoShape 33" id="33"/>
          <p:cNvSpPr/>
          <p:nvPr/>
        </p:nvSpPr>
        <p:spPr>
          <a:xfrm>
            <a:off x="13709978" y="8756285"/>
            <a:ext cx="3168250" cy="0"/>
          </a:xfrm>
          <a:prstGeom prst="line">
            <a:avLst/>
          </a:prstGeom>
          <a:ln cap="flat" w="19050">
            <a:solidFill>
              <a:srgbClr val="87949D"/>
            </a:solidFill>
            <a:prstDash val="solid"/>
            <a:headEnd type="none" len="sm" w="sm"/>
            <a:tailEnd type="none" len="sm" w="sm"/>
          </a:ln>
        </p:spPr>
      </p:sp>
      <p:sp>
        <p:nvSpPr>
          <p:cNvPr name="TextBox 34" id="34"/>
          <p:cNvSpPr txBox="true"/>
          <p:nvPr/>
        </p:nvSpPr>
        <p:spPr>
          <a:xfrm rot="0">
            <a:off x="1465143" y="1145899"/>
            <a:ext cx="7895996" cy="2058434"/>
          </a:xfrm>
          <a:prstGeom prst="rect">
            <a:avLst/>
          </a:prstGeom>
        </p:spPr>
        <p:txBody>
          <a:bodyPr anchor="t" rtlCol="false" tIns="0" lIns="0" bIns="0" rIns="0">
            <a:spAutoFit/>
          </a:bodyPr>
          <a:lstStyle/>
          <a:p>
            <a:pPr algn="l">
              <a:lnSpc>
                <a:spcPts val="17071"/>
              </a:lnSpc>
              <a:spcBef>
                <a:spcPct val="0"/>
              </a:spcBef>
            </a:pPr>
            <a:r>
              <a:rPr lang="en-US" b="true" sz="12193">
                <a:gradFill>
                  <a:gsLst>
                    <a:gs pos="0">
                      <a:srgbClr val="1966DF">
                        <a:alpha val="100000"/>
                      </a:srgbClr>
                    </a:gs>
                    <a:gs pos="50000">
                      <a:srgbClr val="3483FF">
                        <a:alpha val="100000"/>
                      </a:srgbClr>
                    </a:gs>
                    <a:gs pos="100000">
                      <a:srgbClr val="92BFFF">
                        <a:alpha val="100000"/>
                      </a:srgbClr>
                    </a:gs>
                  </a:gsLst>
                  <a:lin ang="0"/>
                </a:gradFill>
                <a:latin typeface="Proxima Nova Heavy"/>
                <a:ea typeface="Proxima Nova Heavy"/>
                <a:cs typeface="Proxima Nova Heavy"/>
                <a:sym typeface="Proxima Nova Heavy"/>
              </a:rPr>
              <a:t>MỤC LỤC</a:t>
            </a:r>
          </a:p>
        </p:txBody>
      </p:sp>
      <p:sp>
        <p:nvSpPr>
          <p:cNvPr name="TextBox 35" id="35"/>
          <p:cNvSpPr txBox="true"/>
          <p:nvPr/>
        </p:nvSpPr>
        <p:spPr>
          <a:xfrm rot="0">
            <a:off x="1357545" y="5529169"/>
            <a:ext cx="3563537" cy="2088989"/>
          </a:xfrm>
          <a:prstGeom prst="rect">
            <a:avLst/>
          </a:prstGeom>
        </p:spPr>
        <p:txBody>
          <a:bodyPr anchor="t" rtlCol="false" tIns="0" lIns="0" bIns="0" rIns="0">
            <a:spAutoFit/>
          </a:bodyPr>
          <a:lstStyle/>
          <a:p>
            <a:pPr algn="l" marL="0" indent="0" lvl="0">
              <a:lnSpc>
                <a:spcPts val="4142"/>
              </a:lnSpc>
            </a:pPr>
            <a:r>
              <a:rPr lang="en-US" b="true" sz="3800">
                <a:solidFill>
                  <a:srgbClr val="35383B"/>
                </a:solidFill>
                <a:latin typeface="Proxima Nova Heavy"/>
                <a:ea typeface="Proxima Nova Heavy"/>
                <a:cs typeface="Proxima Nova Heavy"/>
                <a:sym typeface="Proxima Nova Heavy"/>
              </a:rPr>
              <a:t>PHẦN 1: TỔNG QUAN CÔNG NGHỆ &amp; CÔNG CỤ</a:t>
            </a:r>
          </a:p>
        </p:txBody>
      </p:sp>
      <p:sp>
        <p:nvSpPr>
          <p:cNvPr name="TextBox 36" id="36"/>
          <p:cNvSpPr txBox="true"/>
          <p:nvPr/>
        </p:nvSpPr>
        <p:spPr>
          <a:xfrm rot="0">
            <a:off x="5469983" y="5529169"/>
            <a:ext cx="3435149" cy="3125989"/>
          </a:xfrm>
          <a:prstGeom prst="rect">
            <a:avLst/>
          </a:prstGeom>
        </p:spPr>
        <p:txBody>
          <a:bodyPr anchor="t" rtlCol="false" tIns="0" lIns="0" bIns="0" rIns="0">
            <a:spAutoFit/>
          </a:bodyPr>
          <a:lstStyle/>
          <a:p>
            <a:pPr algn="l" marL="0" indent="0" lvl="0">
              <a:lnSpc>
                <a:spcPts val="4142"/>
              </a:lnSpc>
            </a:pPr>
            <a:r>
              <a:rPr lang="en-US" b="true" sz="3800">
                <a:solidFill>
                  <a:srgbClr val="35383B"/>
                </a:solidFill>
                <a:latin typeface="Proxima Nova Heavy"/>
                <a:ea typeface="Proxima Nova Heavy"/>
                <a:cs typeface="Proxima Nova Heavy"/>
                <a:sym typeface="Proxima Nova Heavy"/>
              </a:rPr>
              <a:t>PHẦN 2: ĐẶ</a:t>
            </a:r>
            <a:r>
              <a:rPr lang="en-US" b="true" sz="3800" strike="noStrike" u="none">
                <a:solidFill>
                  <a:srgbClr val="35383B"/>
                </a:solidFill>
                <a:latin typeface="Proxima Nova Heavy"/>
                <a:ea typeface="Proxima Nova Heavy"/>
                <a:cs typeface="Proxima Nova Heavy"/>
                <a:sym typeface="Proxima Nova Heavy"/>
              </a:rPr>
              <a:t>T</a:t>
            </a:r>
            <a:r>
              <a:rPr lang="en-US" b="true" sz="3800" strike="noStrike" u="none">
                <a:solidFill>
                  <a:srgbClr val="35383B"/>
                </a:solidFill>
                <a:latin typeface="Proxima Nova Heavy"/>
                <a:ea typeface="Proxima Nova Heavy"/>
                <a:cs typeface="Proxima Nova Heavy"/>
                <a:sym typeface="Proxima Nova Heavy"/>
              </a:rPr>
              <a:t> VẤ</a:t>
            </a:r>
            <a:r>
              <a:rPr lang="en-US" b="true" sz="3800" strike="noStrike" u="none">
                <a:solidFill>
                  <a:srgbClr val="35383B"/>
                </a:solidFill>
                <a:latin typeface="Proxima Nova Heavy"/>
                <a:ea typeface="Proxima Nova Heavy"/>
                <a:cs typeface="Proxima Nova Heavy"/>
                <a:sym typeface="Proxima Nova Heavy"/>
              </a:rPr>
              <a:t>N Đ</a:t>
            </a:r>
            <a:r>
              <a:rPr lang="en-US" b="true" sz="3800" strike="noStrike" u="none">
                <a:solidFill>
                  <a:srgbClr val="35383B"/>
                </a:solidFill>
                <a:latin typeface="Proxima Nova Heavy"/>
                <a:ea typeface="Proxima Nova Heavy"/>
                <a:cs typeface="Proxima Nova Heavy"/>
                <a:sym typeface="Proxima Nova Heavy"/>
              </a:rPr>
              <a:t>Ề</a:t>
            </a:r>
            <a:r>
              <a:rPr lang="en-US" b="true" sz="3800" strike="noStrike" u="none">
                <a:solidFill>
                  <a:srgbClr val="35383B"/>
                </a:solidFill>
                <a:latin typeface="Proxima Nova Heavy"/>
                <a:ea typeface="Proxima Nova Heavy"/>
                <a:cs typeface="Proxima Nova Heavy"/>
                <a:sym typeface="Proxima Nova Heavy"/>
              </a:rPr>
              <a:t> </a:t>
            </a:r>
            <a:r>
              <a:rPr lang="en-US" b="true" sz="3800" strike="noStrike" u="none">
                <a:solidFill>
                  <a:srgbClr val="35383B"/>
                </a:solidFill>
                <a:latin typeface="Proxima Nova Heavy"/>
                <a:ea typeface="Proxima Nova Heavy"/>
                <a:cs typeface="Proxima Nova Heavy"/>
                <a:sym typeface="Proxima Nova Heavy"/>
              </a:rPr>
              <a:t>VỚI HỆ THỐ</a:t>
            </a:r>
            <a:r>
              <a:rPr lang="en-US" b="true" sz="3800" strike="noStrike" u="none">
                <a:solidFill>
                  <a:srgbClr val="35383B"/>
                </a:solidFill>
                <a:latin typeface="Proxima Nova Heavy"/>
                <a:ea typeface="Proxima Nova Heavy"/>
                <a:cs typeface="Proxima Nova Heavy"/>
                <a:sym typeface="Proxima Nova Heavy"/>
              </a:rPr>
              <a:t>N</a:t>
            </a:r>
            <a:r>
              <a:rPr lang="en-US" b="true" sz="3800" strike="noStrike" u="none">
                <a:solidFill>
                  <a:srgbClr val="35383B"/>
                </a:solidFill>
                <a:latin typeface="Proxima Nova Heavy"/>
                <a:ea typeface="Proxima Nova Heavy"/>
                <a:cs typeface="Proxima Nova Heavy"/>
                <a:sym typeface="Proxima Nova Heavy"/>
              </a:rPr>
              <a:t>G HUNRE E-COMMERCE</a:t>
            </a:r>
          </a:p>
          <a:p>
            <a:pPr algn="l" marL="0" indent="0" lvl="0">
              <a:lnSpc>
                <a:spcPts val="4142"/>
              </a:lnSpc>
            </a:pPr>
          </a:p>
        </p:txBody>
      </p:sp>
      <p:sp>
        <p:nvSpPr>
          <p:cNvPr name="TextBox 37" id="37"/>
          <p:cNvSpPr txBox="true"/>
          <p:nvPr/>
        </p:nvSpPr>
        <p:spPr>
          <a:xfrm rot="0">
            <a:off x="9531687" y="5529169"/>
            <a:ext cx="3252166" cy="2088989"/>
          </a:xfrm>
          <a:prstGeom prst="rect">
            <a:avLst/>
          </a:prstGeom>
        </p:spPr>
        <p:txBody>
          <a:bodyPr anchor="t" rtlCol="false" tIns="0" lIns="0" bIns="0" rIns="0">
            <a:spAutoFit/>
          </a:bodyPr>
          <a:lstStyle/>
          <a:p>
            <a:pPr algn="l" marL="0" indent="0" lvl="0">
              <a:lnSpc>
                <a:spcPts val="4142"/>
              </a:lnSpc>
              <a:spcBef>
                <a:spcPct val="0"/>
              </a:spcBef>
            </a:pPr>
            <a:r>
              <a:rPr lang="en-US" b="true" sz="3800">
                <a:solidFill>
                  <a:srgbClr val="35383B"/>
                </a:solidFill>
                <a:latin typeface="Proxima Nova Heavy"/>
                <a:ea typeface="Proxima Nova Heavy"/>
                <a:cs typeface="Proxima Nova Heavy"/>
                <a:sym typeface="Proxima Nova Heavy"/>
              </a:rPr>
              <a:t>NỘI</a:t>
            </a:r>
            <a:r>
              <a:rPr lang="en-US" b="true" sz="3800" strike="noStrike" u="none">
                <a:solidFill>
                  <a:srgbClr val="35383B"/>
                </a:solidFill>
                <a:latin typeface="Proxima Nova Heavy"/>
                <a:ea typeface="Proxima Nova Heavy"/>
                <a:cs typeface="Proxima Nova Heavy"/>
                <a:sym typeface="Proxima Nova Heavy"/>
              </a:rPr>
              <a:t> </a:t>
            </a:r>
            <a:r>
              <a:rPr lang="en-US" b="true" sz="3800" strike="noStrike" u="none">
                <a:solidFill>
                  <a:srgbClr val="35383B"/>
                </a:solidFill>
                <a:latin typeface="Proxima Nova Heavy"/>
                <a:ea typeface="Proxima Nova Heavy"/>
                <a:cs typeface="Proxima Nova Heavy"/>
                <a:sym typeface="Proxima Nova Heavy"/>
              </a:rPr>
              <a:t>DUNG</a:t>
            </a:r>
            <a:r>
              <a:rPr lang="en-US" b="true" sz="3800" strike="noStrike" u="none">
                <a:solidFill>
                  <a:srgbClr val="35383B"/>
                </a:solidFill>
                <a:latin typeface="Proxima Nova Heavy"/>
                <a:ea typeface="Proxima Nova Heavy"/>
                <a:cs typeface="Proxima Nova Heavy"/>
                <a:sym typeface="Proxima Nova Heavy"/>
              </a:rPr>
              <a:t> </a:t>
            </a:r>
            <a:r>
              <a:rPr lang="en-US" b="true" sz="3800" strike="noStrike" u="none">
                <a:solidFill>
                  <a:srgbClr val="35383B"/>
                </a:solidFill>
                <a:latin typeface="Proxima Nova Heavy"/>
                <a:ea typeface="Proxima Nova Heavy"/>
                <a:cs typeface="Proxima Nova Heavy"/>
                <a:sym typeface="Proxima Nova Heavy"/>
              </a:rPr>
              <a:t>CHI TIẾT KIỂM THỬ</a:t>
            </a:r>
          </a:p>
          <a:p>
            <a:pPr algn="l" marL="0" indent="0" lvl="0">
              <a:lnSpc>
                <a:spcPts val="4142"/>
              </a:lnSpc>
              <a:spcBef>
                <a:spcPct val="0"/>
              </a:spcBef>
            </a:pPr>
          </a:p>
        </p:txBody>
      </p:sp>
      <p:sp>
        <p:nvSpPr>
          <p:cNvPr name="TextBox 38" id="38"/>
          <p:cNvSpPr txBox="true"/>
          <p:nvPr/>
        </p:nvSpPr>
        <p:spPr>
          <a:xfrm rot="0">
            <a:off x="13643143" y="5529169"/>
            <a:ext cx="3185332" cy="2607489"/>
          </a:xfrm>
          <a:prstGeom prst="rect">
            <a:avLst/>
          </a:prstGeom>
        </p:spPr>
        <p:txBody>
          <a:bodyPr anchor="t" rtlCol="false" tIns="0" lIns="0" bIns="0" rIns="0">
            <a:spAutoFit/>
          </a:bodyPr>
          <a:lstStyle/>
          <a:p>
            <a:pPr algn="l" marL="0" indent="0" lvl="0">
              <a:lnSpc>
                <a:spcPts val="4142"/>
              </a:lnSpc>
              <a:spcBef>
                <a:spcPct val="0"/>
              </a:spcBef>
            </a:pPr>
            <a:r>
              <a:rPr lang="en-US" b="true" sz="3800">
                <a:solidFill>
                  <a:srgbClr val="35383B"/>
                </a:solidFill>
                <a:latin typeface="Proxima Nova Heavy"/>
                <a:ea typeface="Proxima Nova Heavy"/>
                <a:cs typeface="Proxima Nova Heavy"/>
                <a:sym typeface="Proxima Nova Heavy"/>
              </a:rPr>
              <a:t>ĐÁNH GIÁ KẾT QUẢ &amp; ĐÁNH GIÁ</a:t>
            </a:r>
            <a:r>
              <a:rPr lang="en-US" b="true" sz="3800" strike="noStrike" u="none">
                <a:solidFill>
                  <a:srgbClr val="35383B"/>
                </a:solidFill>
                <a:latin typeface="Proxima Nova Heavy"/>
                <a:ea typeface="Proxima Nova Heavy"/>
                <a:cs typeface="Proxima Nova Heavy"/>
                <a:sym typeface="Proxima Nova Heavy"/>
              </a:rPr>
              <a:t> </a:t>
            </a:r>
            <a:r>
              <a:rPr lang="en-US" b="true" sz="3800" strike="noStrike" u="none">
                <a:solidFill>
                  <a:srgbClr val="35383B"/>
                </a:solidFill>
                <a:latin typeface="Proxima Nova Heavy"/>
                <a:ea typeface="Proxima Nova Heavy"/>
                <a:cs typeface="Proxima Nova Heavy"/>
                <a:sym typeface="Proxima Nova Heavy"/>
              </a:rPr>
              <a:t>PYTEST</a:t>
            </a:r>
          </a:p>
          <a:p>
            <a:pPr algn="l" marL="0" indent="0" lvl="0">
              <a:lnSpc>
                <a:spcPts val="4142"/>
              </a:lnSpc>
              <a:spcBef>
                <a:spcPct val="0"/>
              </a:spcBef>
            </a:pPr>
          </a:p>
        </p:txBody>
      </p:sp>
      <p:sp>
        <p:nvSpPr>
          <p:cNvPr name="TextBox 39" id="39"/>
          <p:cNvSpPr txBox="true"/>
          <p:nvPr/>
        </p:nvSpPr>
        <p:spPr>
          <a:xfrm rot="0">
            <a:off x="1581948" y="4354435"/>
            <a:ext cx="1156131" cy="885153"/>
          </a:xfrm>
          <a:prstGeom prst="rect">
            <a:avLst/>
          </a:prstGeom>
        </p:spPr>
        <p:txBody>
          <a:bodyPr anchor="t" rtlCol="false" tIns="0" lIns="0" bIns="0" rIns="0">
            <a:spAutoFit/>
          </a:bodyPr>
          <a:lstStyle/>
          <a:p>
            <a:pPr algn="ctr">
              <a:lnSpc>
                <a:spcPts val="7256"/>
              </a:lnSpc>
              <a:spcBef>
                <a:spcPct val="0"/>
              </a:spcBef>
            </a:pPr>
            <a:r>
              <a:rPr lang="en-US" b="true" sz="5183">
                <a:solidFill>
                  <a:srgbClr val="FFFFFF"/>
                </a:solidFill>
                <a:latin typeface="Proxima Nova Heavy"/>
                <a:ea typeface="Proxima Nova Heavy"/>
                <a:cs typeface="Proxima Nova Heavy"/>
                <a:sym typeface="Proxima Nova Heavy"/>
              </a:rPr>
              <a:t>01</a:t>
            </a:r>
          </a:p>
        </p:txBody>
      </p:sp>
      <p:sp>
        <p:nvSpPr>
          <p:cNvPr name="TextBox 40" id="40"/>
          <p:cNvSpPr txBox="true"/>
          <p:nvPr/>
        </p:nvSpPr>
        <p:spPr>
          <a:xfrm rot="0">
            <a:off x="5677330" y="4354435"/>
            <a:ext cx="1182546" cy="885153"/>
          </a:xfrm>
          <a:prstGeom prst="rect">
            <a:avLst/>
          </a:prstGeom>
        </p:spPr>
        <p:txBody>
          <a:bodyPr anchor="t" rtlCol="false" tIns="0" lIns="0" bIns="0" rIns="0">
            <a:spAutoFit/>
          </a:bodyPr>
          <a:lstStyle/>
          <a:p>
            <a:pPr algn="ctr">
              <a:lnSpc>
                <a:spcPts val="7256"/>
              </a:lnSpc>
              <a:spcBef>
                <a:spcPct val="0"/>
              </a:spcBef>
            </a:pPr>
            <a:r>
              <a:rPr lang="en-US" b="true" sz="5183">
                <a:solidFill>
                  <a:srgbClr val="FFFFFF"/>
                </a:solidFill>
                <a:latin typeface="Proxima Nova Heavy"/>
                <a:ea typeface="Proxima Nova Heavy"/>
                <a:cs typeface="Proxima Nova Heavy"/>
                <a:sym typeface="Proxima Nova Heavy"/>
              </a:rPr>
              <a:t>02</a:t>
            </a:r>
          </a:p>
        </p:txBody>
      </p:sp>
      <p:sp>
        <p:nvSpPr>
          <p:cNvPr name="TextBox 41" id="41"/>
          <p:cNvSpPr txBox="true"/>
          <p:nvPr/>
        </p:nvSpPr>
        <p:spPr>
          <a:xfrm rot="0">
            <a:off x="9801994" y="4354435"/>
            <a:ext cx="1156131" cy="885153"/>
          </a:xfrm>
          <a:prstGeom prst="rect">
            <a:avLst/>
          </a:prstGeom>
        </p:spPr>
        <p:txBody>
          <a:bodyPr anchor="t" rtlCol="false" tIns="0" lIns="0" bIns="0" rIns="0">
            <a:spAutoFit/>
          </a:bodyPr>
          <a:lstStyle/>
          <a:p>
            <a:pPr algn="ctr">
              <a:lnSpc>
                <a:spcPts val="7256"/>
              </a:lnSpc>
              <a:spcBef>
                <a:spcPct val="0"/>
              </a:spcBef>
            </a:pPr>
            <a:r>
              <a:rPr lang="en-US" b="true" sz="5183">
                <a:solidFill>
                  <a:srgbClr val="FFFFFF"/>
                </a:solidFill>
                <a:latin typeface="Proxima Nova Heavy"/>
                <a:ea typeface="Proxima Nova Heavy"/>
                <a:cs typeface="Proxima Nova Heavy"/>
                <a:sym typeface="Proxima Nova Heavy"/>
              </a:rPr>
              <a:t>03</a:t>
            </a:r>
          </a:p>
        </p:txBody>
      </p:sp>
      <p:sp>
        <p:nvSpPr>
          <p:cNvPr name="TextBox 42" id="42"/>
          <p:cNvSpPr txBox="true"/>
          <p:nvPr/>
        </p:nvSpPr>
        <p:spPr>
          <a:xfrm rot="0">
            <a:off x="13939865" y="4354435"/>
            <a:ext cx="1103303" cy="885153"/>
          </a:xfrm>
          <a:prstGeom prst="rect">
            <a:avLst/>
          </a:prstGeom>
        </p:spPr>
        <p:txBody>
          <a:bodyPr anchor="t" rtlCol="false" tIns="0" lIns="0" bIns="0" rIns="0">
            <a:spAutoFit/>
          </a:bodyPr>
          <a:lstStyle/>
          <a:p>
            <a:pPr algn="ctr">
              <a:lnSpc>
                <a:spcPts val="7256"/>
              </a:lnSpc>
              <a:spcBef>
                <a:spcPct val="0"/>
              </a:spcBef>
            </a:pPr>
            <a:r>
              <a:rPr lang="en-US" b="true" sz="5183">
                <a:solidFill>
                  <a:srgbClr val="FFFFFF"/>
                </a:solidFill>
                <a:latin typeface="Proxima Nova Heavy"/>
                <a:ea typeface="Proxima Nova Heavy"/>
                <a:cs typeface="Proxima Nova Heavy"/>
                <a:sym typeface="Proxima Nova Heavy"/>
              </a:rPr>
              <a:t>04</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6639491" cy="11520165"/>
            <a:chOff x="0" y="0"/>
            <a:chExt cx="4382417" cy="3034118"/>
          </a:xfrm>
        </p:grpSpPr>
        <p:sp>
          <p:nvSpPr>
            <p:cNvPr name="Freeform 4" id="4"/>
            <p:cNvSpPr/>
            <p:nvPr/>
          </p:nvSpPr>
          <p:spPr>
            <a:xfrm flipH="false" flipV="false" rot="0">
              <a:off x="0" y="0"/>
              <a:ext cx="4382417" cy="3034118"/>
            </a:xfrm>
            <a:custGeom>
              <a:avLst/>
              <a:gdLst/>
              <a:ahLst/>
              <a:cxnLst/>
              <a:rect r="r" b="b" t="t" l="l"/>
              <a:pathLst>
                <a:path h="3034118" w="4382417">
                  <a:moveTo>
                    <a:pt x="0" y="0"/>
                  </a:moveTo>
                  <a:lnTo>
                    <a:pt x="4382417" y="0"/>
                  </a:lnTo>
                  <a:lnTo>
                    <a:pt x="4382417"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4382417"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1138229"/>
            <a:ext cx="16230600" cy="8010541"/>
            <a:chOff x="0" y="0"/>
            <a:chExt cx="5311321" cy="2621379"/>
          </a:xfrm>
        </p:grpSpPr>
        <p:sp>
          <p:nvSpPr>
            <p:cNvPr name="Freeform 7" id="7"/>
            <p:cNvSpPr/>
            <p:nvPr/>
          </p:nvSpPr>
          <p:spPr>
            <a:xfrm flipH="false" flipV="false" rot="0">
              <a:off x="0" y="0"/>
              <a:ext cx="5311321" cy="2621379"/>
            </a:xfrm>
            <a:custGeom>
              <a:avLst/>
              <a:gdLst/>
              <a:ahLst/>
              <a:cxnLst/>
              <a:rect r="r" b="b" t="t" l="l"/>
              <a:pathLst>
                <a:path h="2621379" w="5311321">
                  <a:moveTo>
                    <a:pt x="32436" y="0"/>
                  </a:moveTo>
                  <a:lnTo>
                    <a:pt x="5278885" y="0"/>
                  </a:lnTo>
                  <a:cubicBezTo>
                    <a:pt x="5287488" y="0"/>
                    <a:pt x="5295738" y="3417"/>
                    <a:pt x="5301821" y="9500"/>
                  </a:cubicBezTo>
                  <a:cubicBezTo>
                    <a:pt x="5307904" y="15583"/>
                    <a:pt x="5311321" y="23833"/>
                    <a:pt x="5311321" y="32436"/>
                  </a:cubicBezTo>
                  <a:lnTo>
                    <a:pt x="5311321" y="2588943"/>
                  </a:lnTo>
                  <a:cubicBezTo>
                    <a:pt x="5311321" y="2597546"/>
                    <a:pt x="5307904" y="2605796"/>
                    <a:pt x="5301821" y="2611879"/>
                  </a:cubicBezTo>
                  <a:cubicBezTo>
                    <a:pt x="5295738" y="2617962"/>
                    <a:pt x="5287488" y="2621379"/>
                    <a:pt x="5278885" y="2621379"/>
                  </a:cubicBezTo>
                  <a:lnTo>
                    <a:pt x="32436" y="2621379"/>
                  </a:lnTo>
                  <a:cubicBezTo>
                    <a:pt x="14522" y="2621379"/>
                    <a:pt x="0" y="2606857"/>
                    <a:pt x="0" y="2588943"/>
                  </a:cubicBezTo>
                  <a:lnTo>
                    <a:pt x="0" y="32436"/>
                  </a:lnTo>
                  <a:cubicBezTo>
                    <a:pt x="0" y="23833"/>
                    <a:pt x="3417" y="15583"/>
                    <a:pt x="9500" y="9500"/>
                  </a:cubicBezTo>
                  <a:cubicBezTo>
                    <a:pt x="15583" y="3417"/>
                    <a:pt x="23833" y="0"/>
                    <a:pt x="32436"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8" id="8"/>
            <p:cNvSpPr txBox="true"/>
            <p:nvPr/>
          </p:nvSpPr>
          <p:spPr>
            <a:xfrm>
              <a:off x="0" y="-38100"/>
              <a:ext cx="5311321" cy="2659479"/>
            </a:xfrm>
            <a:prstGeom prst="rect">
              <a:avLst/>
            </a:prstGeom>
          </p:spPr>
          <p:txBody>
            <a:bodyPr anchor="ctr" rtlCol="false" tIns="50800" lIns="50800" bIns="50800" rIns="50800"/>
            <a:lstStyle/>
            <a:p>
              <a:pPr algn="ctr">
                <a:lnSpc>
                  <a:spcPts val="2659"/>
                </a:lnSpc>
              </a:pPr>
              <a:r>
                <a:rPr lang="en-US" sz="1899">
                  <a:solidFill>
                    <a:srgbClr val="FFFFFF"/>
                  </a:solidFill>
                  <a:latin typeface="Noto Sans"/>
                  <a:ea typeface="Noto Sans"/>
                  <a:cs typeface="Noto Sans"/>
                  <a:sym typeface="Noto Sans"/>
                </a:rPr>
                <a:t>  </a:t>
              </a:r>
            </a:p>
          </p:txBody>
        </p:sp>
      </p:grpSp>
      <p:sp>
        <p:nvSpPr>
          <p:cNvPr name="TextBox 9" id="9"/>
          <p:cNvSpPr txBox="true"/>
          <p:nvPr/>
        </p:nvSpPr>
        <p:spPr>
          <a:xfrm rot="0">
            <a:off x="2003040" y="3743582"/>
            <a:ext cx="8926678" cy="4861534"/>
          </a:xfrm>
          <a:prstGeom prst="rect">
            <a:avLst/>
          </a:prstGeom>
        </p:spPr>
        <p:txBody>
          <a:bodyPr anchor="t" rtlCol="false" tIns="0" lIns="0" bIns="0" rIns="0">
            <a:spAutoFit/>
          </a:bodyPr>
          <a:lstStyle/>
          <a:p>
            <a:pPr algn="l">
              <a:lnSpc>
                <a:spcPts val="9614"/>
              </a:lnSpc>
            </a:pPr>
            <a:r>
              <a:rPr lang="en-US" b="true" sz="9519">
                <a:solidFill>
                  <a:srgbClr val="35383B"/>
                </a:solidFill>
                <a:latin typeface="Proxima Nova Heavy"/>
                <a:ea typeface="Proxima Nova Heavy"/>
                <a:cs typeface="Proxima Nova Heavy"/>
                <a:sym typeface="Proxima Nova Heavy"/>
              </a:rPr>
              <a:t>PHẦN 1: </a:t>
            </a:r>
            <a:r>
              <a:rPr lang="en-US" b="true" sz="9519">
                <a:solidFill>
                  <a:srgbClr val="35383B"/>
                </a:solidFill>
                <a:latin typeface="Proxima Nova Heavy"/>
                <a:ea typeface="Proxima Nova Heavy"/>
                <a:cs typeface="Proxima Nova Heavy"/>
                <a:sym typeface="Proxima Nova Heavy"/>
              </a:rPr>
              <a:t>TỔNG QUAN CÔNG NGHỆ &amp; CÔNG CỤ</a:t>
            </a:r>
          </a:p>
        </p:txBody>
      </p:sp>
      <p:grpSp>
        <p:nvGrpSpPr>
          <p:cNvPr name="Group 10" id="10"/>
          <p:cNvGrpSpPr/>
          <p:nvPr/>
        </p:nvGrpSpPr>
        <p:grpSpPr>
          <a:xfrm rot="0">
            <a:off x="1802910" y="2057257"/>
            <a:ext cx="1237362" cy="1237362"/>
            <a:chOff x="0" y="0"/>
            <a:chExt cx="1649816" cy="1649816"/>
          </a:xfrm>
        </p:grpSpPr>
        <p:grpSp>
          <p:nvGrpSpPr>
            <p:cNvPr name="Group 11" id="11"/>
            <p:cNvGrpSpPr/>
            <p:nvPr/>
          </p:nvGrpSpPr>
          <p:grpSpPr>
            <a:xfrm rot="0">
              <a:off x="0" y="0"/>
              <a:ext cx="1649816" cy="1649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rnd">
                <a:noFill/>
                <a:prstDash val="solid"/>
                <a:round/>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167176" y="313303"/>
              <a:ext cx="1247733" cy="986376"/>
            </a:xfrm>
            <a:prstGeom prst="rect">
              <a:avLst/>
            </a:prstGeom>
          </p:spPr>
          <p:txBody>
            <a:bodyPr anchor="t" rtlCol="false" tIns="0" lIns="0" bIns="0" rIns="0">
              <a:spAutoFit/>
            </a:bodyPr>
            <a:lstStyle/>
            <a:p>
              <a:pPr algn="ctr">
                <a:lnSpc>
                  <a:spcPts val="6205"/>
                </a:lnSpc>
                <a:spcBef>
                  <a:spcPct val="0"/>
                </a:spcBef>
              </a:pPr>
              <a:r>
                <a:rPr lang="en-US" b="true" sz="4432">
                  <a:solidFill>
                    <a:srgbClr val="FFFFFF"/>
                  </a:solidFill>
                  <a:latin typeface="Proxima Nova Heavy"/>
                  <a:ea typeface="Proxima Nova Heavy"/>
                  <a:cs typeface="Proxima Nova Heavy"/>
                  <a:sym typeface="Proxima Nova Heavy"/>
                </a:rPr>
                <a:t>01</a:t>
              </a:r>
            </a:p>
          </p:txBody>
        </p:sp>
      </p:grpSp>
      <p:sp>
        <p:nvSpPr>
          <p:cNvPr name="Freeform 15" id="15"/>
          <p:cNvSpPr/>
          <p:nvPr/>
        </p:nvSpPr>
        <p:spPr>
          <a:xfrm flipH="false" flipV="false" rot="0">
            <a:off x="10515644" y="2244723"/>
            <a:ext cx="6551829" cy="6551829"/>
          </a:xfrm>
          <a:custGeom>
            <a:avLst/>
            <a:gdLst/>
            <a:ahLst/>
            <a:cxnLst/>
            <a:rect r="r" b="b" t="t" l="l"/>
            <a:pathLst>
              <a:path h="6551829" w="6551829">
                <a:moveTo>
                  <a:pt x="0" y="0"/>
                </a:moveTo>
                <a:lnTo>
                  <a:pt x="6551829" y="0"/>
                </a:lnTo>
                <a:lnTo>
                  <a:pt x="6551829" y="6551829"/>
                </a:lnTo>
                <a:lnTo>
                  <a:pt x="0" y="6551829"/>
                </a:lnTo>
                <a:lnTo>
                  <a:pt x="0" y="0"/>
                </a:lnTo>
                <a:close/>
              </a:path>
            </a:pathLst>
          </a:custGeom>
          <a:blipFill>
            <a:blip r:embed="rId3"/>
            <a:stretch>
              <a:fillRect l="0" t="0" r="0" b="0"/>
            </a:stretch>
          </a:blipFill>
        </p:spPr>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4223391" cy="11520165"/>
            <a:chOff x="0" y="0"/>
            <a:chExt cx="3746078" cy="3034118"/>
          </a:xfrm>
        </p:grpSpPr>
        <p:sp>
          <p:nvSpPr>
            <p:cNvPr name="Freeform 4" id="4"/>
            <p:cNvSpPr/>
            <p:nvPr/>
          </p:nvSpPr>
          <p:spPr>
            <a:xfrm flipH="false" flipV="false" rot="0">
              <a:off x="0" y="0"/>
              <a:ext cx="3746078" cy="3034118"/>
            </a:xfrm>
            <a:custGeom>
              <a:avLst/>
              <a:gdLst/>
              <a:ahLst/>
              <a:cxnLst/>
              <a:rect r="r" b="b" t="t" l="l"/>
              <a:pathLst>
                <a:path h="3034118" w="3746078">
                  <a:moveTo>
                    <a:pt x="0" y="0"/>
                  </a:moveTo>
                  <a:lnTo>
                    <a:pt x="3746078" y="0"/>
                  </a:lnTo>
                  <a:lnTo>
                    <a:pt x="3746078"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3746078"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4162088"/>
            <a:ext cx="5126567" cy="5096212"/>
            <a:chOff x="0" y="0"/>
            <a:chExt cx="1633378" cy="1623707"/>
          </a:xfrm>
        </p:grpSpPr>
        <p:sp>
          <p:nvSpPr>
            <p:cNvPr name="Freeform 7" id="7"/>
            <p:cNvSpPr/>
            <p:nvPr/>
          </p:nvSpPr>
          <p:spPr>
            <a:xfrm flipH="false" flipV="false" rot="0">
              <a:off x="0" y="0"/>
              <a:ext cx="1633378" cy="1623707"/>
            </a:xfrm>
            <a:custGeom>
              <a:avLst/>
              <a:gdLst/>
              <a:ahLst/>
              <a:cxnLst/>
              <a:rect r="r" b="b" t="t" l="l"/>
              <a:pathLst>
                <a:path h="1623707" w="1633378">
                  <a:moveTo>
                    <a:pt x="49835" y="0"/>
                  </a:moveTo>
                  <a:lnTo>
                    <a:pt x="1583543" y="0"/>
                  </a:lnTo>
                  <a:cubicBezTo>
                    <a:pt x="1611066" y="0"/>
                    <a:pt x="1633378" y="22312"/>
                    <a:pt x="1633378" y="49835"/>
                  </a:cubicBezTo>
                  <a:lnTo>
                    <a:pt x="1633378" y="1573872"/>
                  </a:lnTo>
                  <a:cubicBezTo>
                    <a:pt x="1633378" y="1601395"/>
                    <a:pt x="1611066" y="1623707"/>
                    <a:pt x="1583543" y="1623707"/>
                  </a:cubicBezTo>
                  <a:lnTo>
                    <a:pt x="49835" y="1623707"/>
                  </a:lnTo>
                  <a:cubicBezTo>
                    <a:pt x="22312" y="1623707"/>
                    <a:pt x="0" y="1601395"/>
                    <a:pt x="0" y="1573872"/>
                  </a:cubicBezTo>
                  <a:lnTo>
                    <a:pt x="0" y="49835"/>
                  </a:lnTo>
                  <a:cubicBezTo>
                    <a:pt x="0" y="22312"/>
                    <a:pt x="22312" y="0"/>
                    <a:pt x="49835"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8" id="8"/>
            <p:cNvSpPr txBox="true"/>
            <p:nvPr/>
          </p:nvSpPr>
          <p:spPr>
            <a:xfrm>
              <a:off x="0" y="-38100"/>
              <a:ext cx="1633378" cy="166180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2172990" y="4162088"/>
            <a:ext cx="5126567" cy="5096212"/>
            <a:chOff x="0" y="0"/>
            <a:chExt cx="1633378" cy="1623707"/>
          </a:xfrm>
        </p:grpSpPr>
        <p:sp>
          <p:nvSpPr>
            <p:cNvPr name="Freeform 10" id="10"/>
            <p:cNvSpPr/>
            <p:nvPr/>
          </p:nvSpPr>
          <p:spPr>
            <a:xfrm flipH="false" flipV="false" rot="0">
              <a:off x="0" y="0"/>
              <a:ext cx="1633378" cy="1623707"/>
            </a:xfrm>
            <a:custGeom>
              <a:avLst/>
              <a:gdLst/>
              <a:ahLst/>
              <a:cxnLst/>
              <a:rect r="r" b="b" t="t" l="l"/>
              <a:pathLst>
                <a:path h="1623707" w="1633378">
                  <a:moveTo>
                    <a:pt x="49835" y="0"/>
                  </a:moveTo>
                  <a:lnTo>
                    <a:pt x="1583543" y="0"/>
                  </a:lnTo>
                  <a:cubicBezTo>
                    <a:pt x="1611066" y="0"/>
                    <a:pt x="1633378" y="22312"/>
                    <a:pt x="1633378" y="49835"/>
                  </a:cubicBezTo>
                  <a:lnTo>
                    <a:pt x="1633378" y="1573872"/>
                  </a:lnTo>
                  <a:cubicBezTo>
                    <a:pt x="1633378" y="1601395"/>
                    <a:pt x="1611066" y="1623707"/>
                    <a:pt x="1583543" y="1623707"/>
                  </a:cubicBezTo>
                  <a:lnTo>
                    <a:pt x="49835" y="1623707"/>
                  </a:lnTo>
                  <a:cubicBezTo>
                    <a:pt x="22312" y="1623707"/>
                    <a:pt x="0" y="1601395"/>
                    <a:pt x="0" y="1573872"/>
                  </a:cubicBezTo>
                  <a:lnTo>
                    <a:pt x="0" y="49835"/>
                  </a:lnTo>
                  <a:cubicBezTo>
                    <a:pt x="0" y="22312"/>
                    <a:pt x="22312" y="0"/>
                    <a:pt x="49835"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11" id="11"/>
            <p:cNvSpPr txBox="true"/>
            <p:nvPr/>
          </p:nvSpPr>
          <p:spPr>
            <a:xfrm>
              <a:off x="0" y="-38100"/>
              <a:ext cx="1633378" cy="166180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6580716" y="4162088"/>
            <a:ext cx="5126567" cy="5096212"/>
            <a:chOff x="0" y="0"/>
            <a:chExt cx="1633378" cy="1623707"/>
          </a:xfrm>
        </p:grpSpPr>
        <p:sp>
          <p:nvSpPr>
            <p:cNvPr name="Freeform 13" id="13"/>
            <p:cNvSpPr/>
            <p:nvPr/>
          </p:nvSpPr>
          <p:spPr>
            <a:xfrm flipH="false" flipV="false" rot="0">
              <a:off x="0" y="0"/>
              <a:ext cx="1633378" cy="1623707"/>
            </a:xfrm>
            <a:custGeom>
              <a:avLst/>
              <a:gdLst/>
              <a:ahLst/>
              <a:cxnLst/>
              <a:rect r="r" b="b" t="t" l="l"/>
              <a:pathLst>
                <a:path h="1623707" w="1633378">
                  <a:moveTo>
                    <a:pt x="49835" y="0"/>
                  </a:moveTo>
                  <a:lnTo>
                    <a:pt x="1583543" y="0"/>
                  </a:lnTo>
                  <a:cubicBezTo>
                    <a:pt x="1611066" y="0"/>
                    <a:pt x="1633378" y="22312"/>
                    <a:pt x="1633378" y="49835"/>
                  </a:cubicBezTo>
                  <a:lnTo>
                    <a:pt x="1633378" y="1573872"/>
                  </a:lnTo>
                  <a:cubicBezTo>
                    <a:pt x="1633378" y="1601395"/>
                    <a:pt x="1611066" y="1623707"/>
                    <a:pt x="1583543" y="1623707"/>
                  </a:cubicBezTo>
                  <a:lnTo>
                    <a:pt x="49835" y="1623707"/>
                  </a:lnTo>
                  <a:cubicBezTo>
                    <a:pt x="22312" y="1623707"/>
                    <a:pt x="0" y="1601395"/>
                    <a:pt x="0" y="1573872"/>
                  </a:cubicBezTo>
                  <a:lnTo>
                    <a:pt x="0" y="49835"/>
                  </a:lnTo>
                  <a:cubicBezTo>
                    <a:pt x="0" y="22312"/>
                    <a:pt x="22312" y="0"/>
                    <a:pt x="49835"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14" id="14"/>
            <p:cNvSpPr txBox="true"/>
            <p:nvPr/>
          </p:nvSpPr>
          <p:spPr>
            <a:xfrm>
              <a:off x="0" y="-38100"/>
              <a:ext cx="1633378" cy="166180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28700" y="4162088"/>
            <a:ext cx="5122727" cy="1251735"/>
            <a:chOff x="0" y="0"/>
            <a:chExt cx="1349196" cy="329675"/>
          </a:xfrm>
        </p:grpSpPr>
        <p:sp>
          <p:nvSpPr>
            <p:cNvPr name="Freeform 16" id="16"/>
            <p:cNvSpPr/>
            <p:nvPr/>
          </p:nvSpPr>
          <p:spPr>
            <a:xfrm flipH="false" flipV="false" rot="0">
              <a:off x="0" y="0"/>
              <a:ext cx="1349196" cy="329675"/>
            </a:xfrm>
            <a:custGeom>
              <a:avLst/>
              <a:gdLst/>
              <a:ahLst/>
              <a:cxnLst/>
              <a:rect r="r" b="b" t="t" l="l"/>
              <a:pathLst>
                <a:path h="329675" w="1349196">
                  <a:moveTo>
                    <a:pt x="49873" y="0"/>
                  </a:moveTo>
                  <a:lnTo>
                    <a:pt x="1299323" y="0"/>
                  </a:lnTo>
                  <a:cubicBezTo>
                    <a:pt x="1326867" y="0"/>
                    <a:pt x="1349196" y="22329"/>
                    <a:pt x="1349196" y="49873"/>
                  </a:cubicBezTo>
                  <a:lnTo>
                    <a:pt x="1349196" y="279802"/>
                  </a:lnTo>
                  <a:cubicBezTo>
                    <a:pt x="1349196" y="307346"/>
                    <a:pt x="1326867" y="329675"/>
                    <a:pt x="1299323" y="329675"/>
                  </a:cubicBezTo>
                  <a:lnTo>
                    <a:pt x="49873" y="329675"/>
                  </a:lnTo>
                  <a:cubicBezTo>
                    <a:pt x="36646" y="329675"/>
                    <a:pt x="23960" y="324421"/>
                    <a:pt x="14607" y="315068"/>
                  </a:cubicBezTo>
                  <a:cubicBezTo>
                    <a:pt x="5254" y="305715"/>
                    <a:pt x="0" y="293029"/>
                    <a:pt x="0" y="279802"/>
                  </a:cubicBezTo>
                  <a:lnTo>
                    <a:pt x="0" y="49873"/>
                  </a:lnTo>
                  <a:cubicBezTo>
                    <a:pt x="0" y="36646"/>
                    <a:pt x="5254" y="23960"/>
                    <a:pt x="14607" y="14607"/>
                  </a:cubicBezTo>
                  <a:cubicBezTo>
                    <a:pt x="23960" y="5254"/>
                    <a:pt x="36646" y="0"/>
                    <a:pt x="49873"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17" id="17"/>
            <p:cNvSpPr txBox="true"/>
            <p:nvPr/>
          </p:nvSpPr>
          <p:spPr>
            <a:xfrm>
              <a:off x="0" y="-38100"/>
              <a:ext cx="1349196" cy="36777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2172990" y="4162088"/>
            <a:ext cx="5122727" cy="1251735"/>
            <a:chOff x="0" y="0"/>
            <a:chExt cx="1349196" cy="329675"/>
          </a:xfrm>
        </p:grpSpPr>
        <p:sp>
          <p:nvSpPr>
            <p:cNvPr name="Freeform 19" id="19"/>
            <p:cNvSpPr/>
            <p:nvPr/>
          </p:nvSpPr>
          <p:spPr>
            <a:xfrm flipH="false" flipV="false" rot="0">
              <a:off x="0" y="0"/>
              <a:ext cx="1349196" cy="329675"/>
            </a:xfrm>
            <a:custGeom>
              <a:avLst/>
              <a:gdLst/>
              <a:ahLst/>
              <a:cxnLst/>
              <a:rect r="r" b="b" t="t" l="l"/>
              <a:pathLst>
                <a:path h="329675" w="1349196">
                  <a:moveTo>
                    <a:pt x="49873" y="0"/>
                  </a:moveTo>
                  <a:lnTo>
                    <a:pt x="1299323" y="0"/>
                  </a:lnTo>
                  <a:cubicBezTo>
                    <a:pt x="1326867" y="0"/>
                    <a:pt x="1349196" y="22329"/>
                    <a:pt x="1349196" y="49873"/>
                  </a:cubicBezTo>
                  <a:lnTo>
                    <a:pt x="1349196" y="279802"/>
                  </a:lnTo>
                  <a:cubicBezTo>
                    <a:pt x="1349196" y="307346"/>
                    <a:pt x="1326867" y="329675"/>
                    <a:pt x="1299323" y="329675"/>
                  </a:cubicBezTo>
                  <a:lnTo>
                    <a:pt x="49873" y="329675"/>
                  </a:lnTo>
                  <a:cubicBezTo>
                    <a:pt x="36646" y="329675"/>
                    <a:pt x="23960" y="324421"/>
                    <a:pt x="14607" y="315068"/>
                  </a:cubicBezTo>
                  <a:cubicBezTo>
                    <a:pt x="5254" y="305715"/>
                    <a:pt x="0" y="293029"/>
                    <a:pt x="0" y="279802"/>
                  </a:cubicBezTo>
                  <a:lnTo>
                    <a:pt x="0" y="49873"/>
                  </a:lnTo>
                  <a:cubicBezTo>
                    <a:pt x="0" y="36646"/>
                    <a:pt x="5254" y="23960"/>
                    <a:pt x="14607" y="14607"/>
                  </a:cubicBezTo>
                  <a:cubicBezTo>
                    <a:pt x="23960" y="5254"/>
                    <a:pt x="36646" y="0"/>
                    <a:pt x="49873"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20" id="20"/>
            <p:cNvSpPr txBox="true"/>
            <p:nvPr/>
          </p:nvSpPr>
          <p:spPr>
            <a:xfrm>
              <a:off x="0" y="-38100"/>
              <a:ext cx="1349196" cy="367775"/>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580716" y="4162088"/>
            <a:ext cx="5122727" cy="1251735"/>
            <a:chOff x="0" y="0"/>
            <a:chExt cx="1349196" cy="329675"/>
          </a:xfrm>
        </p:grpSpPr>
        <p:sp>
          <p:nvSpPr>
            <p:cNvPr name="Freeform 22" id="22"/>
            <p:cNvSpPr/>
            <p:nvPr/>
          </p:nvSpPr>
          <p:spPr>
            <a:xfrm flipH="false" flipV="false" rot="0">
              <a:off x="0" y="0"/>
              <a:ext cx="1349196" cy="329675"/>
            </a:xfrm>
            <a:custGeom>
              <a:avLst/>
              <a:gdLst/>
              <a:ahLst/>
              <a:cxnLst/>
              <a:rect r="r" b="b" t="t" l="l"/>
              <a:pathLst>
                <a:path h="329675" w="1349196">
                  <a:moveTo>
                    <a:pt x="49873" y="0"/>
                  </a:moveTo>
                  <a:lnTo>
                    <a:pt x="1299323" y="0"/>
                  </a:lnTo>
                  <a:cubicBezTo>
                    <a:pt x="1326867" y="0"/>
                    <a:pt x="1349196" y="22329"/>
                    <a:pt x="1349196" y="49873"/>
                  </a:cubicBezTo>
                  <a:lnTo>
                    <a:pt x="1349196" y="279802"/>
                  </a:lnTo>
                  <a:cubicBezTo>
                    <a:pt x="1349196" y="307346"/>
                    <a:pt x="1326867" y="329675"/>
                    <a:pt x="1299323" y="329675"/>
                  </a:cubicBezTo>
                  <a:lnTo>
                    <a:pt x="49873" y="329675"/>
                  </a:lnTo>
                  <a:cubicBezTo>
                    <a:pt x="36646" y="329675"/>
                    <a:pt x="23960" y="324421"/>
                    <a:pt x="14607" y="315068"/>
                  </a:cubicBezTo>
                  <a:cubicBezTo>
                    <a:pt x="5254" y="305715"/>
                    <a:pt x="0" y="293029"/>
                    <a:pt x="0" y="279802"/>
                  </a:cubicBezTo>
                  <a:lnTo>
                    <a:pt x="0" y="49873"/>
                  </a:lnTo>
                  <a:cubicBezTo>
                    <a:pt x="0" y="36646"/>
                    <a:pt x="5254" y="23960"/>
                    <a:pt x="14607" y="14607"/>
                  </a:cubicBezTo>
                  <a:cubicBezTo>
                    <a:pt x="23960" y="5254"/>
                    <a:pt x="36646" y="0"/>
                    <a:pt x="49873"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23" id="23"/>
            <p:cNvSpPr txBox="true"/>
            <p:nvPr/>
          </p:nvSpPr>
          <p:spPr>
            <a:xfrm>
              <a:off x="0" y="-38100"/>
              <a:ext cx="1349196" cy="36777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028700" y="4787955"/>
            <a:ext cx="5122727" cy="625867"/>
            <a:chOff x="0" y="0"/>
            <a:chExt cx="1349196" cy="164838"/>
          </a:xfrm>
        </p:grpSpPr>
        <p:sp>
          <p:nvSpPr>
            <p:cNvPr name="Freeform 25" id="25"/>
            <p:cNvSpPr/>
            <p:nvPr/>
          </p:nvSpPr>
          <p:spPr>
            <a:xfrm flipH="false" flipV="false" rot="0">
              <a:off x="0" y="0"/>
              <a:ext cx="1349196" cy="164838"/>
            </a:xfrm>
            <a:custGeom>
              <a:avLst/>
              <a:gdLst/>
              <a:ahLst/>
              <a:cxnLst/>
              <a:rect r="r" b="b" t="t" l="l"/>
              <a:pathLst>
                <a:path h="164838" w="1349196">
                  <a:moveTo>
                    <a:pt x="0" y="0"/>
                  </a:moveTo>
                  <a:lnTo>
                    <a:pt x="1349196" y="0"/>
                  </a:lnTo>
                  <a:lnTo>
                    <a:pt x="1349196" y="164838"/>
                  </a:lnTo>
                  <a:lnTo>
                    <a:pt x="0" y="164838"/>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26" id="26"/>
            <p:cNvSpPr txBox="true"/>
            <p:nvPr/>
          </p:nvSpPr>
          <p:spPr>
            <a:xfrm>
              <a:off x="0" y="-38100"/>
              <a:ext cx="1349196" cy="202938"/>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12172990" y="4787955"/>
            <a:ext cx="5122727" cy="625867"/>
            <a:chOff x="0" y="0"/>
            <a:chExt cx="1349196" cy="164838"/>
          </a:xfrm>
        </p:grpSpPr>
        <p:sp>
          <p:nvSpPr>
            <p:cNvPr name="Freeform 28" id="28"/>
            <p:cNvSpPr/>
            <p:nvPr/>
          </p:nvSpPr>
          <p:spPr>
            <a:xfrm flipH="false" flipV="false" rot="0">
              <a:off x="0" y="0"/>
              <a:ext cx="1349196" cy="164838"/>
            </a:xfrm>
            <a:custGeom>
              <a:avLst/>
              <a:gdLst/>
              <a:ahLst/>
              <a:cxnLst/>
              <a:rect r="r" b="b" t="t" l="l"/>
              <a:pathLst>
                <a:path h="164838" w="1349196">
                  <a:moveTo>
                    <a:pt x="0" y="0"/>
                  </a:moveTo>
                  <a:lnTo>
                    <a:pt x="1349196" y="0"/>
                  </a:lnTo>
                  <a:lnTo>
                    <a:pt x="1349196" y="164838"/>
                  </a:lnTo>
                  <a:lnTo>
                    <a:pt x="0" y="164838"/>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29" id="29"/>
            <p:cNvSpPr txBox="true"/>
            <p:nvPr/>
          </p:nvSpPr>
          <p:spPr>
            <a:xfrm>
              <a:off x="0" y="-38100"/>
              <a:ext cx="1349196" cy="202938"/>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6580716" y="4787955"/>
            <a:ext cx="5122727" cy="625867"/>
            <a:chOff x="0" y="0"/>
            <a:chExt cx="1349196" cy="164838"/>
          </a:xfrm>
        </p:grpSpPr>
        <p:sp>
          <p:nvSpPr>
            <p:cNvPr name="Freeform 31" id="31"/>
            <p:cNvSpPr/>
            <p:nvPr/>
          </p:nvSpPr>
          <p:spPr>
            <a:xfrm flipH="false" flipV="false" rot="0">
              <a:off x="0" y="0"/>
              <a:ext cx="1349196" cy="164838"/>
            </a:xfrm>
            <a:custGeom>
              <a:avLst/>
              <a:gdLst/>
              <a:ahLst/>
              <a:cxnLst/>
              <a:rect r="r" b="b" t="t" l="l"/>
              <a:pathLst>
                <a:path h="164838" w="1349196">
                  <a:moveTo>
                    <a:pt x="0" y="0"/>
                  </a:moveTo>
                  <a:lnTo>
                    <a:pt x="1349196" y="0"/>
                  </a:lnTo>
                  <a:lnTo>
                    <a:pt x="1349196" y="164838"/>
                  </a:lnTo>
                  <a:lnTo>
                    <a:pt x="0" y="164838"/>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32" id="32"/>
            <p:cNvSpPr txBox="true"/>
            <p:nvPr/>
          </p:nvSpPr>
          <p:spPr>
            <a:xfrm>
              <a:off x="0" y="-38100"/>
              <a:ext cx="1349196" cy="202938"/>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2666584" y="3453493"/>
            <a:ext cx="1771008" cy="1771008"/>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w="66675" cap="sq">
              <a:solidFill>
                <a:srgbClr val="FFFFFF"/>
              </a:solidFill>
              <a:prstDash val="solid"/>
              <a:miter/>
            </a:ln>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4199"/>
                </a:lnSpc>
              </a:pPr>
              <a:r>
                <a:rPr lang="en-US" b="true" sz="2999">
                  <a:solidFill>
                    <a:srgbClr val="FFFFFF"/>
                  </a:solidFill>
                  <a:latin typeface="Noto Sans Bold"/>
                  <a:ea typeface="Noto Sans Bold"/>
                  <a:cs typeface="Noto Sans Bold"/>
                  <a:sym typeface="Noto Sans Bold"/>
                </a:rPr>
                <a:t>Pytest</a:t>
              </a:r>
            </a:p>
          </p:txBody>
        </p:sp>
      </p:grpSp>
      <p:grpSp>
        <p:nvGrpSpPr>
          <p:cNvPr name="Group 36" id="36"/>
          <p:cNvGrpSpPr/>
          <p:nvPr/>
        </p:nvGrpSpPr>
        <p:grpSpPr>
          <a:xfrm rot="0">
            <a:off x="13850769" y="3481784"/>
            <a:ext cx="1771008" cy="1771008"/>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w="66675" cap="sq">
              <a:solidFill>
                <a:srgbClr val="FFFFFF"/>
              </a:solidFill>
              <a:prstDash val="solid"/>
              <a:miter/>
            </a:ln>
          </p:spPr>
        </p:sp>
        <p:sp>
          <p:nvSpPr>
            <p:cNvPr name="TextBox 38" id="38"/>
            <p:cNvSpPr txBox="true"/>
            <p:nvPr/>
          </p:nvSpPr>
          <p:spPr>
            <a:xfrm>
              <a:off x="76200" y="19050"/>
              <a:ext cx="660400" cy="717550"/>
            </a:xfrm>
            <a:prstGeom prst="rect">
              <a:avLst/>
            </a:prstGeom>
          </p:spPr>
          <p:txBody>
            <a:bodyPr anchor="ctr" rtlCol="false" tIns="50800" lIns="50800" bIns="50800" rIns="50800"/>
            <a:lstStyle/>
            <a:p>
              <a:pPr algn="ctr">
                <a:lnSpc>
                  <a:spcPts val="3640"/>
                </a:lnSpc>
              </a:pPr>
              <a:r>
                <a:rPr lang="en-US" b="true" sz="2600">
                  <a:solidFill>
                    <a:srgbClr val="FFFFFF"/>
                  </a:solidFill>
                  <a:latin typeface="Noto Sans Bold"/>
                  <a:ea typeface="Noto Sans Bold"/>
                  <a:cs typeface="Noto Sans Bold"/>
                  <a:sym typeface="Noto Sans Bold"/>
                </a:rPr>
                <a:t>Pandas</a:t>
              </a:r>
            </a:p>
          </p:txBody>
        </p:sp>
      </p:grpSp>
      <p:grpSp>
        <p:nvGrpSpPr>
          <p:cNvPr name="Group 39" id="39"/>
          <p:cNvGrpSpPr/>
          <p:nvPr/>
        </p:nvGrpSpPr>
        <p:grpSpPr>
          <a:xfrm rot="0">
            <a:off x="8258496" y="3481784"/>
            <a:ext cx="1771008" cy="177100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w="66675" cap="sq">
              <a:solidFill>
                <a:srgbClr val="FFFFFF"/>
              </a:solidFill>
              <a:prstDash val="solid"/>
              <a:miter/>
            </a:ln>
          </p:spPr>
        </p:sp>
        <p:sp>
          <p:nvSpPr>
            <p:cNvPr name="TextBox 41" id="41"/>
            <p:cNvSpPr txBox="true"/>
            <p:nvPr/>
          </p:nvSpPr>
          <p:spPr>
            <a:xfrm>
              <a:off x="76200" y="28575"/>
              <a:ext cx="660400" cy="708025"/>
            </a:xfrm>
            <a:prstGeom prst="rect">
              <a:avLst/>
            </a:prstGeom>
          </p:spPr>
          <p:txBody>
            <a:bodyPr anchor="ctr" rtlCol="false" tIns="50800" lIns="50800" bIns="50800" rIns="50800"/>
            <a:lstStyle/>
            <a:p>
              <a:pPr algn="ctr">
                <a:lnSpc>
                  <a:spcPts val="4199"/>
                </a:lnSpc>
              </a:pPr>
              <a:r>
                <a:rPr lang="en-US" b="true" sz="2999">
                  <a:solidFill>
                    <a:srgbClr val="FFFFFF"/>
                  </a:solidFill>
                  <a:latin typeface="Noto Sans Bold"/>
                  <a:ea typeface="Noto Sans Bold"/>
                  <a:cs typeface="Noto Sans Bold"/>
                  <a:sym typeface="Noto Sans Bold"/>
                </a:rPr>
                <a:t>SWD</a:t>
              </a:r>
            </a:p>
          </p:txBody>
        </p:sp>
      </p:grpSp>
      <p:sp>
        <p:nvSpPr>
          <p:cNvPr name="TextBox 42" id="42"/>
          <p:cNvSpPr txBox="true"/>
          <p:nvPr/>
        </p:nvSpPr>
        <p:spPr>
          <a:xfrm rot="0">
            <a:off x="1028700" y="1171338"/>
            <a:ext cx="9774136" cy="2407031"/>
          </a:xfrm>
          <a:prstGeom prst="rect">
            <a:avLst/>
          </a:prstGeom>
        </p:spPr>
        <p:txBody>
          <a:bodyPr anchor="t" rtlCol="false" tIns="0" lIns="0" bIns="0" rIns="0">
            <a:spAutoFit/>
          </a:bodyPr>
          <a:lstStyle/>
          <a:p>
            <a:pPr algn="l">
              <a:lnSpc>
                <a:spcPts val="6262"/>
              </a:lnSpc>
            </a:pPr>
            <a:r>
              <a:rPr lang="en-US" sz="6200" b="true">
                <a:solidFill>
                  <a:srgbClr val="35383B"/>
                </a:solidFill>
                <a:latin typeface="Proxima Nova Heavy"/>
                <a:ea typeface="Proxima Nova Heavy"/>
                <a:cs typeface="Proxima Nova Heavy"/>
                <a:sym typeface="Proxima Nova Heavy"/>
              </a:rPr>
              <a:t>1.1 G</a:t>
            </a:r>
            <a:r>
              <a:rPr lang="en-US" b="true" sz="6200">
                <a:solidFill>
                  <a:srgbClr val="35383B"/>
                </a:solidFill>
                <a:latin typeface="Proxima Nova Heavy"/>
                <a:ea typeface="Proxima Nova Heavy"/>
                <a:cs typeface="Proxima Nova Heavy"/>
                <a:sym typeface="Proxima Nova Heavy"/>
              </a:rPr>
              <a:t>IỚI THIỆU HỆ SINH THÁI KIỂM THỬ</a:t>
            </a:r>
          </a:p>
          <a:p>
            <a:pPr algn="l">
              <a:lnSpc>
                <a:spcPts val="6262"/>
              </a:lnSpc>
            </a:pPr>
          </a:p>
        </p:txBody>
      </p:sp>
      <p:sp>
        <p:nvSpPr>
          <p:cNvPr name="TextBox 43" id="43"/>
          <p:cNvSpPr txBox="true"/>
          <p:nvPr/>
        </p:nvSpPr>
        <p:spPr>
          <a:xfrm rot="0">
            <a:off x="1301748" y="5487444"/>
            <a:ext cx="4500679" cy="3589655"/>
          </a:xfrm>
          <a:prstGeom prst="rect">
            <a:avLst/>
          </a:prstGeom>
        </p:spPr>
        <p:txBody>
          <a:bodyPr anchor="t" rtlCol="false" tIns="0" lIns="0" bIns="0" rIns="0">
            <a:spAutoFit/>
          </a:bodyPr>
          <a:lstStyle/>
          <a:p>
            <a:pPr algn="l">
              <a:lnSpc>
                <a:spcPts val="3219"/>
              </a:lnSpc>
              <a:spcBef>
                <a:spcPct val="0"/>
              </a:spcBef>
            </a:pPr>
            <a:r>
              <a:rPr lang="en-US" sz="2299">
                <a:solidFill>
                  <a:srgbClr val="35383B"/>
                </a:solidFill>
                <a:latin typeface="Noto Sans"/>
                <a:ea typeface="Noto Sans"/>
                <a:cs typeface="Noto Sans"/>
                <a:sym typeface="Noto Sans"/>
              </a:rPr>
              <a:t>-B</a:t>
            </a:r>
            <a:r>
              <a:rPr lang="en-US" sz="2299">
                <a:solidFill>
                  <a:srgbClr val="35383B"/>
                </a:solidFill>
                <a:latin typeface="Noto Sans"/>
                <a:ea typeface="Noto Sans"/>
                <a:cs typeface="Noto Sans"/>
                <a:sym typeface="Noto Sans"/>
              </a:rPr>
              <a:t>ộ não điều khiển trung tâm</a:t>
            </a:r>
          </a:p>
          <a:p>
            <a:pPr algn="l">
              <a:lnSpc>
                <a:spcPts val="3219"/>
              </a:lnSpc>
              <a:spcBef>
                <a:spcPct val="0"/>
              </a:spcBef>
            </a:pPr>
          </a:p>
          <a:p>
            <a:pPr algn="l">
              <a:lnSpc>
                <a:spcPts val="3219"/>
              </a:lnSpc>
              <a:spcBef>
                <a:spcPct val="0"/>
              </a:spcBef>
            </a:pPr>
            <a:r>
              <a:rPr lang="en-US" sz="2299">
                <a:solidFill>
                  <a:srgbClr val="35383B"/>
                </a:solidFill>
                <a:latin typeface="Noto Sans"/>
                <a:ea typeface="Noto Sans"/>
                <a:cs typeface="Noto Sans"/>
                <a:sym typeface="Noto Sans"/>
              </a:rPr>
              <a:t>-Là một framework mã nguồn mở xây dựng trên nền tảng Python. Điểm mạnh lớn nhất của Pytest là sở hữu thuật toán bắt lỗi đa hình linh hoạt và hệ thống plugin mở rộng vô cùng mạnh mẽ.</a:t>
            </a:r>
          </a:p>
        </p:txBody>
      </p:sp>
      <p:sp>
        <p:nvSpPr>
          <p:cNvPr name="TextBox 44" id="44"/>
          <p:cNvSpPr txBox="true"/>
          <p:nvPr/>
        </p:nvSpPr>
        <p:spPr>
          <a:xfrm rot="0">
            <a:off x="6793426" y="5487444"/>
            <a:ext cx="4741405" cy="2789555"/>
          </a:xfrm>
          <a:prstGeom prst="rect">
            <a:avLst/>
          </a:prstGeom>
        </p:spPr>
        <p:txBody>
          <a:bodyPr anchor="t" rtlCol="false" tIns="0" lIns="0" bIns="0" rIns="0">
            <a:spAutoFit/>
          </a:bodyPr>
          <a:lstStyle/>
          <a:p>
            <a:pPr algn="l">
              <a:lnSpc>
                <a:spcPts val="3219"/>
              </a:lnSpc>
            </a:pPr>
            <a:r>
              <a:rPr lang="en-US" sz="2299">
                <a:solidFill>
                  <a:srgbClr val="35383B"/>
                </a:solidFill>
                <a:latin typeface="Noto Sans"/>
                <a:ea typeface="Noto Sans"/>
                <a:cs typeface="Noto Sans"/>
                <a:sym typeface="Noto Sans"/>
              </a:rPr>
              <a:t>-Tay đòn tương tác vật lý</a:t>
            </a:r>
          </a:p>
          <a:p>
            <a:pPr algn="l">
              <a:lnSpc>
                <a:spcPts val="3219"/>
              </a:lnSpc>
            </a:pPr>
          </a:p>
          <a:p>
            <a:pPr algn="l">
              <a:lnSpc>
                <a:spcPts val="3219"/>
              </a:lnSpc>
              <a:spcBef>
                <a:spcPct val="0"/>
              </a:spcBef>
            </a:pPr>
            <a:r>
              <a:rPr lang="en-US" sz="2299">
                <a:solidFill>
                  <a:srgbClr val="35383B"/>
                </a:solidFill>
                <a:latin typeface="Noto Sans"/>
                <a:ea typeface="Noto Sans"/>
                <a:cs typeface="Noto Sans"/>
                <a:sym typeface="Noto Sans"/>
              </a:rPr>
              <a:t>-Là thư viện tự đ</a:t>
            </a:r>
            <a:r>
              <a:rPr lang="en-US" sz="2299">
                <a:solidFill>
                  <a:srgbClr val="35383B"/>
                </a:solidFill>
                <a:latin typeface="Noto Sans"/>
                <a:ea typeface="Noto Sans"/>
                <a:cs typeface="Noto Sans"/>
                <a:sym typeface="Noto Sans"/>
              </a:rPr>
              <a:t>ộng hóa quy trình điều khiển trình duyệt cấp thấp, cho phép mã lệnh tương tác trực tiếp với giao diện web như một con người thực sự.</a:t>
            </a:r>
          </a:p>
        </p:txBody>
      </p:sp>
      <p:sp>
        <p:nvSpPr>
          <p:cNvPr name="TextBox 45" id="45"/>
          <p:cNvSpPr txBox="true"/>
          <p:nvPr/>
        </p:nvSpPr>
        <p:spPr>
          <a:xfrm rot="0">
            <a:off x="12333602" y="5487444"/>
            <a:ext cx="4801503" cy="2389505"/>
          </a:xfrm>
          <a:prstGeom prst="rect">
            <a:avLst/>
          </a:prstGeom>
        </p:spPr>
        <p:txBody>
          <a:bodyPr anchor="t" rtlCol="false" tIns="0" lIns="0" bIns="0" rIns="0">
            <a:spAutoFit/>
          </a:bodyPr>
          <a:lstStyle/>
          <a:p>
            <a:pPr algn="l">
              <a:lnSpc>
                <a:spcPts val="3219"/>
              </a:lnSpc>
              <a:spcBef>
                <a:spcPct val="0"/>
              </a:spcBef>
            </a:pPr>
            <a:r>
              <a:rPr lang="en-US" sz="2299">
                <a:solidFill>
                  <a:srgbClr val="35383B"/>
                </a:solidFill>
                <a:latin typeface="Noto Sans"/>
                <a:ea typeface="Noto Sans"/>
                <a:cs typeface="Noto Sans"/>
                <a:sym typeface="Noto Sans"/>
              </a:rPr>
              <a:t>-</a:t>
            </a:r>
            <a:r>
              <a:rPr lang="en-US" sz="2299">
                <a:solidFill>
                  <a:srgbClr val="35383B"/>
                </a:solidFill>
                <a:latin typeface="Noto Sans"/>
                <a:ea typeface="Noto Sans"/>
                <a:cs typeface="Noto Sans"/>
                <a:sym typeface="Noto Sans"/>
              </a:rPr>
              <a:t>Động cơ xử lý dữ liệu lõi</a:t>
            </a:r>
          </a:p>
          <a:p>
            <a:pPr algn="l">
              <a:lnSpc>
                <a:spcPts val="3219"/>
              </a:lnSpc>
              <a:spcBef>
                <a:spcPct val="0"/>
              </a:spcBef>
            </a:pPr>
          </a:p>
          <a:p>
            <a:pPr algn="l">
              <a:lnSpc>
                <a:spcPts val="3219"/>
              </a:lnSpc>
              <a:spcBef>
                <a:spcPct val="0"/>
              </a:spcBef>
            </a:pPr>
            <a:r>
              <a:rPr lang="en-US" sz="2299">
                <a:solidFill>
                  <a:srgbClr val="35383B"/>
                </a:solidFill>
                <a:latin typeface="Noto Sans"/>
                <a:ea typeface="Noto Sans"/>
                <a:cs typeface="Noto Sans"/>
                <a:sym typeface="Noto Sans"/>
              </a:rPr>
              <a:t>-Là thư viện nền tảng chuyên biệt và cực kỳ nổi tiếng dành riêng cho lĩnh vực Khoa học Dữ liệu, đặc biệt mạnh trong việc phân tích bảng.</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4223391" cy="11520165"/>
            <a:chOff x="0" y="0"/>
            <a:chExt cx="3746078" cy="3034118"/>
          </a:xfrm>
        </p:grpSpPr>
        <p:sp>
          <p:nvSpPr>
            <p:cNvPr name="Freeform 4" id="4"/>
            <p:cNvSpPr/>
            <p:nvPr/>
          </p:nvSpPr>
          <p:spPr>
            <a:xfrm flipH="false" flipV="false" rot="0">
              <a:off x="0" y="0"/>
              <a:ext cx="3746078" cy="3034118"/>
            </a:xfrm>
            <a:custGeom>
              <a:avLst/>
              <a:gdLst/>
              <a:ahLst/>
              <a:cxnLst/>
              <a:rect r="r" b="b" t="t" l="l"/>
              <a:pathLst>
                <a:path h="3034118" w="3746078">
                  <a:moveTo>
                    <a:pt x="0" y="0"/>
                  </a:moveTo>
                  <a:lnTo>
                    <a:pt x="3746078" y="0"/>
                  </a:lnTo>
                  <a:lnTo>
                    <a:pt x="3746078"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3746078" cy="307221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402812" y="2124206"/>
            <a:ext cx="10320717" cy="7319074"/>
          </a:xfrm>
          <a:custGeom>
            <a:avLst/>
            <a:gdLst/>
            <a:ahLst/>
            <a:cxnLst/>
            <a:rect r="r" b="b" t="t" l="l"/>
            <a:pathLst>
              <a:path h="7319074" w="10320717">
                <a:moveTo>
                  <a:pt x="0" y="0"/>
                </a:moveTo>
                <a:lnTo>
                  <a:pt x="10320717" y="0"/>
                </a:lnTo>
                <a:lnTo>
                  <a:pt x="10320717" y="7319074"/>
                </a:lnTo>
                <a:lnTo>
                  <a:pt x="0" y="7319074"/>
                </a:lnTo>
                <a:lnTo>
                  <a:pt x="0" y="0"/>
                </a:lnTo>
                <a:close/>
              </a:path>
            </a:pathLst>
          </a:custGeom>
          <a:blipFill>
            <a:blip r:embed="rId3"/>
            <a:stretch>
              <a:fillRect l="0" t="0" r="0" b="0"/>
            </a:stretch>
          </a:blipFill>
        </p:spPr>
      </p:sp>
      <p:sp>
        <p:nvSpPr>
          <p:cNvPr name="Freeform 7" id="7"/>
          <p:cNvSpPr/>
          <p:nvPr/>
        </p:nvSpPr>
        <p:spPr>
          <a:xfrm flipH="false" flipV="false" rot="0">
            <a:off x="11777929" y="387817"/>
            <a:ext cx="5481371" cy="9814126"/>
          </a:xfrm>
          <a:custGeom>
            <a:avLst/>
            <a:gdLst/>
            <a:ahLst/>
            <a:cxnLst/>
            <a:rect r="r" b="b" t="t" l="l"/>
            <a:pathLst>
              <a:path h="9814126" w="5481371">
                <a:moveTo>
                  <a:pt x="0" y="0"/>
                </a:moveTo>
                <a:lnTo>
                  <a:pt x="5481371" y="0"/>
                </a:lnTo>
                <a:lnTo>
                  <a:pt x="5481371" y="9814127"/>
                </a:lnTo>
                <a:lnTo>
                  <a:pt x="0" y="9814127"/>
                </a:lnTo>
                <a:lnTo>
                  <a:pt x="0" y="0"/>
                </a:lnTo>
                <a:close/>
              </a:path>
            </a:pathLst>
          </a:custGeom>
          <a:blipFill>
            <a:blip r:embed="rId4"/>
            <a:stretch>
              <a:fillRect l="0" t="0" r="0" b="0"/>
            </a:stretch>
          </a:blipFill>
        </p:spPr>
      </p:sp>
      <p:sp>
        <p:nvSpPr>
          <p:cNvPr name="TextBox 8" id="8"/>
          <p:cNvSpPr txBox="true"/>
          <p:nvPr/>
        </p:nvSpPr>
        <p:spPr>
          <a:xfrm rot="0">
            <a:off x="402812" y="500597"/>
            <a:ext cx="11206571" cy="1141930"/>
          </a:xfrm>
          <a:prstGeom prst="rect">
            <a:avLst/>
          </a:prstGeom>
        </p:spPr>
        <p:txBody>
          <a:bodyPr anchor="t" rtlCol="false" tIns="0" lIns="0" bIns="0" rIns="0">
            <a:spAutoFit/>
          </a:bodyPr>
          <a:lstStyle/>
          <a:p>
            <a:pPr algn="l">
              <a:lnSpc>
                <a:spcPts val="4441"/>
              </a:lnSpc>
            </a:pPr>
            <a:r>
              <a:rPr lang="en-US" sz="4397" b="true">
                <a:solidFill>
                  <a:srgbClr val="35383B"/>
                </a:solidFill>
                <a:latin typeface="Proxima Nova Heavy"/>
                <a:ea typeface="Proxima Nova Heavy"/>
                <a:cs typeface="Proxima Nova Heavy"/>
                <a:sym typeface="Proxima Nova Heavy"/>
              </a:rPr>
              <a:t>1.2 SO SÁNH &amp; LÝ DO LỰA CHỌN</a:t>
            </a:r>
          </a:p>
          <a:p>
            <a:pPr algn="l">
              <a:lnSpc>
                <a:spcPts val="4441"/>
              </a:lnSpc>
            </a:pP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6639491" cy="11520165"/>
            <a:chOff x="0" y="0"/>
            <a:chExt cx="4382417" cy="3034118"/>
          </a:xfrm>
        </p:grpSpPr>
        <p:sp>
          <p:nvSpPr>
            <p:cNvPr name="Freeform 4" id="4"/>
            <p:cNvSpPr/>
            <p:nvPr/>
          </p:nvSpPr>
          <p:spPr>
            <a:xfrm flipH="false" flipV="false" rot="0">
              <a:off x="0" y="0"/>
              <a:ext cx="4382417" cy="3034118"/>
            </a:xfrm>
            <a:custGeom>
              <a:avLst/>
              <a:gdLst/>
              <a:ahLst/>
              <a:cxnLst/>
              <a:rect r="r" b="b" t="t" l="l"/>
              <a:pathLst>
                <a:path h="3034118" w="4382417">
                  <a:moveTo>
                    <a:pt x="0" y="0"/>
                  </a:moveTo>
                  <a:lnTo>
                    <a:pt x="4382417" y="0"/>
                  </a:lnTo>
                  <a:lnTo>
                    <a:pt x="4382417"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4382417"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1138229"/>
            <a:ext cx="16230600" cy="8010541"/>
            <a:chOff x="0" y="0"/>
            <a:chExt cx="5311321" cy="2621379"/>
          </a:xfrm>
        </p:grpSpPr>
        <p:sp>
          <p:nvSpPr>
            <p:cNvPr name="Freeform 7" id="7"/>
            <p:cNvSpPr/>
            <p:nvPr/>
          </p:nvSpPr>
          <p:spPr>
            <a:xfrm flipH="false" flipV="false" rot="0">
              <a:off x="0" y="0"/>
              <a:ext cx="5311321" cy="2621379"/>
            </a:xfrm>
            <a:custGeom>
              <a:avLst/>
              <a:gdLst/>
              <a:ahLst/>
              <a:cxnLst/>
              <a:rect r="r" b="b" t="t" l="l"/>
              <a:pathLst>
                <a:path h="2621379" w="5311321">
                  <a:moveTo>
                    <a:pt x="32436" y="0"/>
                  </a:moveTo>
                  <a:lnTo>
                    <a:pt x="5278885" y="0"/>
                  </a:lnTo>
                  <a:cubicBezTo>
                    <a:pt x="5287488" y="0"/>
                    <a:pt x="5295738" y="3417"/>
                    <a:pt x="5301821" y="9500"/>
                  </a:cubicBezTo>
                  <a:cubicBezTo>
                    <a:pt x="5307904" y="15583"/>
                    <a:pt x="5311321" y="23833"/>
                    <a:pt x="5311321" y="32436"/>
                  </a:cubicBezTo>
                  <a:lnTo>
                    <a:pt x="5311321" y="2588943"/>
                  </a:lnTo>
                  <a:cubicBezTo>
                    <a:pt x="5311321" y="2597546"/>
                    <a:pt x="5307904" y="2605796"/>
                    <a:pt x="5301821" y="2611879"/>
                  </a:cubicBezTo>
                  <a:cubicBezTo>
                    <a:pt x="5295738" y="2617962"/>
                    <a:pt x="5287488" y="2621379"/>
                    <a:pt x="5278885" y="2621379"/>
                  </a:cubicBezTo>
                  <a:lnTo>
                    <a:pt x="32436" y="2621379"/>
                  </a:lnTo>
                  <a:cubicBezTo>
                    <a:pt x="14522" y="2621379"/>
                    <a:pt x="0" y="2606857"/>
                    <a:pt x="0" y="2588943"/>
                  </a:cubicBezTo>
                  <a:lnTo>
                    <a:pt x="0" y="32436"/>
                  </a:lnTo>
                  <a:cubicBezTo>
                    <a:pt x="0" y="23833"/>
                    <a:pt x="3417" y="15583"/>
                    <a:pt x="9500" y="9500"/>
                  </a:cubicBezTo>
                  <a:cubicBezTo>
                    <a:pt x="15583" y="3417"/>
                    <a:pt x="23833" y="0"/>
                    <a:pt x="32436"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8" id="8"/>
            <p:cNvSpPr txBox="true"/>
            <p:nvPr/>
          </p:nvSpPr>
          <p:spPr>
            <a:xfrm>
              <a:off x="0" y="-38100"/>
              <a:ext cx="5311321" cy="2659479"/>
            </a:xfrm>
            <a:prstGeom prst="rect">
              <a:avLst/>
            </a:prstGeom>
          </p:spPr>
          <p:txBody>
            <a:bodyPr anchor="ctr" rtlCol="false" tIns="50800" lIns="50800" bIns="50800" rIns="50800"/>
            <a:lstStyle/>
            <a:p>
              <a:pPr algn="ctr">
                <a:lnSpc>
                  <a:spcPts val="2659"/>
                </a:lnSpc>
              </a:pPr>
              <a:r>
                <a:rPr lang="en-US" sz="1899">
                  <a:solidFill>
                    <a:srgbClr val="FFFFFF"/>
                  </a:solidFill>
                  <a:latin typeface="Noto Sans"/>
                  <a:ea typeface="Noto Sans"/>
                  <a:cs typeface="Noto Sans"/>
                  <a:sym typeface="Noto Sans"/>
                </a:rPr>
                <a:t>  </a:t>
              </a:r>
            </a:p>
          </p:txBody>
        </p:sp>
      </p:grpSp>
      <p:sp>
        <p:nvSpPr>
          <p:cNvPr name="TextBox 9" id="9"/>
          <p:cNvSpPr txBox="true"/>
          <p:nvPr/>
        </p:nvSpPr>
        <p:spPr>
          <a:xfrm rot="0">
            <a:off x="2003040" y="3743582"/>
            <a:ext cx="8926678" cy="6062353"/>
          </a:xfrm>
          <a:prstGeom prst="rect">
            <a:avLst/>
          </a:prstGeom>
        </p:spPr>
        <p:txBody>
          <a:bodyPr anchor="t" rtlCol="false" tIns="0" lIns="0" bIns="0" rIns="0">
            <a:spAutoFit/>
          </a:bodyPr>
          <a:lstStyle/>
          <a:p>
            <a:pPr algn="l">
              <a:lnSpc>
                <a:spcPts val="9614"/>
              </a:lnSpc>
            </a:pPr>
            <a:r>
              <a:rPr lang="en-US" sz="9519" b="true">
                <a:solidFill>
                  <a:srgbClr val="35383B"/>
                </a:solidFill>
                <a:latin typeface="Proxima Nova Heavy"/>
                <a:ea typeface="Proxima Nova Heavy"/>
                <a:cs typeface="Proxima Nova Heavy"/>
                <a:sym typeface="Proxima Nova Heavy"/>
              </a:rPr>
              <a:t>PHẦN 2: ĐẶ</a:t>
            </a:r>
            <a:r>
              <a:rPr lang="en-US" b="true" sz="9519">
                <a:solidFill>
                  <a:srgbClr val="35383B"/>
                </a:solidFill>
                <a:latin typeface="Proxima Nova Heavy"/>
                <a:ea typeface="Proxima Nova Heavy"/>
                <a:cs typeface="Proxima Nova Heavy"/>
                <a:sym typeface="Proxima Nova Heavy"/>
              </a:rPr>
              <a:t>T VẤN ĐỀ VỚI HỆ THỐNG HUNRE E-COMMERCE</a:t>
            </a:r>
          </a:p>
          <a:p>
            <a:pPr algn="l">
              <a:lnSpc>
                <a:spcPts val="9614"/>
              </a:lnSpc>
            </a:pPr>
          </a:p>
        </p:txBody>
      </p:sp>
      <p:grpSp>
        <p:nvGrpSpPr>
          <p:cNvPr name="Group 10" id="10"/>
          <p:cNvGrpSpPr/>
          <p:nvPr/>
        </p:nvGrpSpPr>
        <p:grpSpPr>
          <a:xfrm rot="0">
            <a:off x="1802910" y="2057257"/>
            <a:ext cx="1237362" cy="1237362"/>
            <a:chOff x="0" y="0"/>
            <a:chExt cx="1649816" cy="1649816"/>
          </a:xfrm>
        </p:grpSpPr>
        <p:grpSp>
          <p:nvGrpSpPr>
            <p:cNvPr name="Group 11" id="11"/>
            <p:cNvGrpSpPr/>
            <p:nvPr/>
          </p:nvGrpSpPr>
          <p:grpSpPr>
            <a:xfrm rot="0">
              <a:off x="0" y="0"/>
              <a:ext cx="1649816" cy="1649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rnd">
                <a:noFill/>
                <a:prstDash val="solid"/>
                <a:round/>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167176" y="313303"/>
              <a:ext cx="1247733" cy="986376"/>
            </a:xfrm>
            <a:prstGeom prst="rect">
              <a:avLst/>
            </a:prstGeom>
          </p:spPr>
          <p:txBody>
            <a:bodyPr anchor="t" rtlCol="false" tIns="0" lIns="0" bIns="0" rIns="0">
              <a:spAutoFit/>
            </a:bodyPr>
            <a:lstStyle/>
            <a:p>
              <a:pPr algn="ctr">
                <a:lnSpc>
                  <a:spcPts val="6205"/>
                </a:lnSpc>
                <a:spcBef>
                  <a:spcPct val="0"/>
                </a:spcBef>
              </a:pPr>
              <a:r>
                <a:rPr lang="en-US" b="true" sz="4432">
                  <a:solidFill>
                    <a:srgbClr val="FFFFFF"/>
                  </a:solidFill>
                  <a:latin typeface="Proxima Nova Heavy"/>
                  <a:ea typeface="Proxima Nova Heavy"/>
                  <a:cs typeface="Proxima Nova Heavy"/>
                  <a:sym typeface="Proxima Nova Heavy"/>
                </a:rPr>
                <a:t>01</a:t>
              </a:r>
            </a:p>
          </p:txBody>
        </p:sp>
      </p:grpSp>
      <p:sp>
        <p:nvSpPr>
          <p:cNvPr name="Freeform 15" id="15"/>
          <p:cNvSpPr/>
          <p:nvPr/>
        </p:nvSpPr>
        <p:spPr>
          <a:xfrm flipH="false" flipV="false" rot="0">
            <a:off x="11109435" y="2212626"/>
            <a:ext cx="6551829" cy="6551829"/>
          </a:xfrm>
          <a:custGeom>
            <a:avLst/>
            <a:gdLst/>
            <a:ahLst/>
            <a:cxnLst/>
            <a:rect r="r" b="b" t="t" l="l"/>
            <a:pathLst>
              <a:path h="6551829" w="6551829">
                <a:moveTo>
                  <a:pt x="0" y="0"/>
                </a:moveTo>
                <a:lnTo>
                  <a:pt x="6551829" y="0"/>
                </a:lnTo>
                <a:lnTo>
                  <a:pt x="6551829" y="6551829"/>
                </a:lnTo>
                <a:lnTo>
                  <a:pt x="0" y="6551829"/>
                </a:lnTo>
                <a:lnTo>
                  <a:pt x="0" y="0"/>
                </a:lnTo>
                <a:close/>
              </a:path>
            </a:pathLst>
          </a:custGeom>
          <a:blipFill>
            <a:blip r:embed="rId3"/>
            <a:stretch>
              <a:fillRect l="0" t="0" r="0" b="0"/>
            </a:stretch>
          </a:blipFill>
        </p:spPr>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749275" y="-497299"/>
            <a:ext cx="20343495" cy="11520165"/>
            <a:chOff x="0" y="0"/>
            <a:chExt cx="5357958" cy="3034118"/>
          </a:xfrm>
        </p:grpSpPr>
        <p:sp>
          <p:nvSpPr>
            <p:cNvPr name="Freeform 4" id="4"/>
            <p:cNvSpPr/>
            <p:nvPr/>
          </p:nvSpPr>
          <p:spPr>
            <a:xfrm flipH="false" flipV="false" rot="0">
              <a:off x="0" y="0"/>
              <a:ext cx="5357957" cy="3034118"/>
            </a:xfrm>
            <a:custGeom>
              <a:avLst/>
              <a:gdLst/>
              <a:ahLst/>
              <a:cxnLst/>
              <a:rect r="r" b="b" t="t" l="l"/>
              <a:pathLst>
                <a:path h="3034118" w="5357957">
                  <a:moveTo>
                    <a:pt x="0" y="0"/>
                  </a:moveTo>
                  <a:lnTo>
                    <a:pt x="5357957" y="0"/>
                  </a:lnTo>
                  <a:lnTo>
                    <a:pt x="5357957"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5357958" cy="307221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31199" y="561499"/>
            <a:ext cx="16000919" cy="1616456"/>
          </a:xfrm>
          <a:prstGeom prst="rect">
            <a:avLst/>
          </a:prstGeom>
        </p:spPr>
        <p:txBody>
          <a:bodyPr anchor="t" rtlCol="false" tIns="0" lIns="0" bIns="0" rIns="0">
            <a:spAutoFit/>
          </a:bodyPr>
          <a:lstStyle/>
          <a:p>
            <a:pPr algn="l">
              <a:lnSpc>
                <a:spcPts val="6262"/>
              </a:lnSpc>
            </a:pPr>
            <a:r>
              <a:rPr lang="en-US" sz="6200" b="true">
                <a:solidFill>
                  <a:srgbClr val="35383B"/>
                </a:solidFill>
                <a:latin typeface="Proxima Nova Heavy"/>
                <a:ea typeface="Proxima Nova Heavy"/>
                <a:cs typeface="Proxima Nova Heavy"/>
                <a:sym typeface="Proxima Nova Heavy"/>
              </a:rPr>
              <a:t>NÚT THẮT CỦA GIAO DỊCH TRỰC TUYẾN</a:t>
            </a:r>
          </a:p>
          <a:p>
            <a:pPr algn="l">
              <a:lnSpc>
                <a:spcPts val="6262"/>
              </a:lnSpc>
            </a:pPr>
          </a:p>
        </p:txBody>
      </p:sp>
      <p:sp>
        <p:nvSpPr>
          <p:cNvPr name="TextBox 7" id="7"/>
          <p:cNvSpPr txBox="true"/>
          <p:nvPr/>
        </p:nvSpPr>
        <p:spPr>
          <a:xfrm rot="0">
            <a:off x="274425" y="2404317"/>
            <a:ext cx="5508853" cy="6381320"/>
          </a:xfrm>
          <a:prstGeom prst="rect">
            <a:avLst/>
          </a:prstGeom>
        </p:spPr>
        <p:txBody>
          <a:bodyPr anchor="t" rtlCol="false" tIns="0" lIns="0" bIns="0" rIns="0">
            <a:spAutoFit/>
          </a:bodyPr>
          <a:lstStyle/>
          <a:p>
            <a:pPr algn="just">
              <a:lnSpc>
                <a:spcPts val="3173"/>
              </a:lnSpc>
              <a:spcBef>
                <a:spcPct val="0"/>
              </a:spcBef>
            </a:pPr>
            <a:r>
              <a:rPr lang="en-US" b="true" sz="2266">
                <a:solidFill>
                  <a:srgbClr val="35383B"/>
                </a:solidFill>
                <a:latin typeface="Noto Sans Bold"/>
                <a:ea typeface="Noto Sans Bold"/>
                <a:cs typeface="Noto Sans Bold"/>
                <a:sym typeface="Noto Sans Bold"/>
              </a:rPr>
              <a:t>Đặc thù hệ thống</a:t>
            </a:r>
            <a:r>
              <a:rPr lang="en-US" sz="2266">
                <a:solidFill>
                  <a:srgbClr val="35383B"/>
                </a:solidFill>
                <a:latin typeface="Noto Sans"/>
                <a:ea typeface="Noto Sans"/>
                <a:cs typeface="Noto Sans"/>
                <a:sym typeface="Noto Sans"/>
              </a:rPr>
              <a:t>: Phân hệ Đặt hàng &amp; Thanh toán ủa hệ thống chứa nhiều logic rẽ nhánh phức tạp.</a:t>
            </a:r>
          </a:p>
          <a:p>
            <a:pPr algn="just">
              <a:lnSpc>
                <a:spcPts val="3173"/>
              </a:lnSpc>
              <a:spcBef>
                <a:spcPct val="0"/>
              </a:spcBef>
            </a:pPr>
          </a:p>
          <a:p>
            <a:pPr algn="just">
              <a:lnSpc>
                <a:spcPts val="3173"/>
              </a:lnSpc>
              <a:spcBef>
                <a:spcPct val="0"/>
              </a:spcBef>
            </a:pPr>
            <a:r>
              <a:rPr lang="en-US" b="true" sz="2266">
                <a:solidFill>
                  <a:srgbClr val="35383B"/>
                </a:solidFill>
                <a:latin typeface="Noto Sans Bold"/>
                <a:ea typeface="Noto Sans Bold"/>
                <a:cs typeface="Noto Sans Bold"/>
                <a:sym typeface="Noto Sans Bold"/>
              </a:rPr>
              <a:t>Vấn đề kiểm thử thủ công</a:t>
            </a:r>
            <a:r>
              <a:rPr lang="en-US" sz="2266">
                <a:solidFill>
                  <a:srgbClr val="35383B"/>
                </a:solidFill>
                <a:latin typeface="Noto Sans"/>
                <a:ea typeface="Noto Sans"/>
                <a:cs typeface="Noto Sans"/>
                <a:sym typeface="Noto Sans"/>
              </a:rPr>
              <a:t>:</a:t>
            </a:r>
          </a:p>
          <a:p>
            <a:pPr algn="just">
              <a:lnSpc>
                <a:spcPts val="3173"/>
              </a:lnSpc>
              <a:spcBef>
                <a:spcPct val="0"/>
              </a:spcBef>
            </a:pPr>
            <a:r>
              <a:rPr lang="en-US" sz="2266">
                <a:solidFill>
                  <a:srgbClr val="35383B"/>
                </a:solidFill>
                <a:latin typeface="Noto Sans"/>
                <a:ea typeface="Noto Sans"/>
                <a:cs typeface="Noto Sans"/>
                <a:sym typeface="Noto Sans"/>
              </a:rPr>
              <a:t>Không thể dùng mắt thường để dò hàng trăm tổ hợp lỗi .</a:t>
            </a:r>
          </a:p>
          <a:p>
            <a:pPr algn="just">
              <a:lnSpc>
                <a:spcPts val="3173"/>
              </a:lnSpc>
              <a:spcBef>
                <a:spcPct val="0"/>
              </a:spcBef>
            </a:pPr>
            <a:r>
              <a:rPr lang="en-US" sz="2266">
                <a:solidFill>
                  <a:srgbClr val="35383B"/>
                </a:solidFill>
                <a:latin typeface="Noto Sans"/>
                <a:ea typeface="Noto Sans"/>
                <a:cs typeface="Noto Sans"/>
                <a:sym typeface="Noto Sans"/>
              </a:rPr>
              <a:t>Tốn kém hàng giờ đồng hồ mỗi khi có bản cập nhật mã nguồn mới.</a:t>
            </a:r>
          </a:p>
          <a:p>
            <a:pPr algn="just">
              <a:lnSpc>
                <a:spcPts val="3173"/>
              </a:lnSpc>
              <a:spcBef>
                <a:spcPct val="0"/>
              </a:spcBef>
            </a:pPr>
            <a:r>
              <a:rPr lang="en-US" sz="2266">
                <a:solidFill>
                  <a:srgbClr val="35383B"/>
                </a:solidFill>
                <a:latin typeface="Noto Sans"/>
                <a:ea typeface="Noto Sans"/>
                <a:cs typeface="Noto Sans"/>
                <a:sym typeface="Noto Sans"/>
              </a:rPr>
              <a:t>Không thu thập được số liệu thời gian phản hồi.</a:t>
            </a:r>
          </a:p>
          <a:p>
            <a:pPr algn="just">
              <a:lnSpc>
                <a:spcPts val="3173"/>
              </a:lnSpc>
              <a:spcBef>
                <a:spcPct val="0"/>
              </a:spcBef>
            </a:pPr>
          </a:p>
          <a:p>
            <a:pPr algn="just">
              <a:lnSpc>
                <a:spcPts val="3173"/>
              </a:lnSpc>
              <a:spcBef>
                <a:spcPct val="0"/>
              </a:spcBef>
            </a:pPr>
            <a:r>
              <a:rPr lang="en-US" b="true" sz="2266">
                <a:solidFill>
                  <a:srgbClr val="35383B"/>
                </a:solidFill>
                <a:latin typeface="Noto Sans Bold"/>
                <a:ea typeface="Noto Sans Bold"/>
                <a:cs typeface="Noto Sans Bold"/>
                <a:sym typeface="Noto Sans Bold"/>
              </a:rPr>
              <a:t>Mục tiêu</a:t>
            </a:r>
            <a:r>
              <a:rPr lang="en-US" sz="2266">
                <a:solidFill>
                  <a:srgbClr val="35383B"/>
                </a:solidFill>
                <a:latin typeface="Noto Sans"/>
                <a:ea typeface="Noto Sans"/>
                <a:cs typeface="Noto Sans"/>
                <a:sym typeface="Noto Sans"/>
              </a:rPr>
              <a:t>: Áp dụng hệ thống tự động để "bẻ gãy" mọi điểm yếu, sau đó lập tức tạo báo cáo Excel đánh giá mà không cần con người nhúng tay.</a:t>
            </a:r>
          </a:p>
        </p:txBody>
      </p:sp>
      <p:sp>
        <p:nvSpPr>
          <p:cNvPr name="Freeform 8" id="8"/>
          <p:cNvSpPr/>
          <p:nvPr/>
        </p:nvSpPr>
        <p:spPr>
          <a:xfrm flipH="false" flipV="false" rot="0">
            <a:off x="6198695" y="2442417"/>
            <a:ext cx="11878136" cy="6484256"/>
          </a:xfrm>
          <a:custGeom>
            <a:avLst/>
            <a:gdLst/>
            <a:ahLst/>
            <a:cxnLst/>
            <a:rect r="r" b="b" t="t" l="l"/>
            <a:pathLst>
              <a:path h="6484256" w="11878136">
                <a:moveTo>
                  <a:pt x="0" y="0"/>
                </a:moveTo>
                <a:lnTo>
                  <a:pt x="11878136" y="0"/>
                </a:lnTo>
                <a:lnTo>
                  <a:pt x="11878136" y="6484255"/>
                </a:lnTo>
                <a:lnTo>
                  <a:pt x="0" y="6484255"/>
                </a:lnTo>
                <a:lnTo>
                  <a:pt x="0" y="0"/>
                </a:lnTo>
                <a:close/>
              </a:path>
            </a:pathLst>
          </a:custGeom>
          <a:blipFill>
            <a:blip r:embed="rId3"/>
            <a:stretch>
              <a:fillRect l="0" t="0" r="0" b="0"/>
            </a:stretch>
          </a:blipFill>
        </p:spPr>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6639491" cy="11520165"/>
            <a:chOff x="0" y="0"/>
            <a:chExt cx="4382417" cy="3034118"/>
          </a:xfrm>
        </p:grpSpPr>
        <p:sp>
          <p:nvSpPr>
            <p:cNvPr name="Freeform 4" id="4"/>
            <p:cNvSpPr/>
            <p:nvPr/>
          </p:nvSpPr>
          <p:spPr>
            <a:xfrm flipH="false" flipV="false" rot="0">
              <a:off x="0" y="0"/>
              <a:ext cx="4382417" cy="3034118"/>
            </a:xfrm>
            <a:custGeom>
              <a:avLst/>
              <a:gdLst/>
              <a:ahLst/>
              <a:cxnLst/>
              <a:rect r="r" b="b" t="t" l="l"/>
              <a:pathLst>
                <a:path h="3034118" w="4382417">
                  <a:moveTo>
                    <a:pt x="0" y="0"/>
                  </a:moveTo>
                  <a:lnTo>
                    <a:pt x="4382417" y="0"/>
                  </a:lnTo>
                  <a:lnTo>
                    <a:pt x="4382417"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4382417"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1138229"/>
            <a:ext cx="16230600" cy="8010541"/>
            <a:chOff x="0" y="0"/>
            <a:chExt cx="5311321" cy="2621379"/>
          </a:xfrm>
        </p:grpSpPr>
        <p:sp>
          <p:nvSpPr>
            <p:cNvPr name="Freeform 7" id="7"/>
            <p:cNvSpPr/>
            <p:nvPr/>
          </p:nvSpPr>
          <p:spPr>
            <a:xfrm flipH="false" flipV="false" rot="0">
              <a:off x="0" y="0"/>
              <a:ext cx="5311321" cy="2621379"/>
            </a:xfrm>
            <a:custGeom>
              <a:avLst/>
              <a:gdLst/>
              <a:ahLst/>
              <a:cxnLst/>
              <a:rect r="r" b="b" t="t" l="l"/>
              <a:pathLst>
                <a:path h="2621379" w="5311321">
                  <a:moveTo>
                    <a:pt x="32436" y="0"/>
                  </a:moveTo>
                  <a:lnTo>
                    <a:pt x="5278885" y="0"/>
                  </a:lnTo>
                  <a:cubicBezTo>
                    <a:pt x="5287488" y="0"/>
                    <a:pt x="5295738" y="3417"/>
                    <a:pt x="5301821" y="9500"/>
                  </a:cubicBezTo>
                  <a:cubicBezTo>
                    <a:pt x="5307904" y="15583"/>
                    <a:pt x="5311321" y="23833"/>
                    <a:pt x="5311321" y="32436"/>
                  </a:cubicBezTo>
                  <a:lnTo>
                    <a:pt x="5311321" y="2588943"/>
                  </a:lnTo>
                  <a:cubicBezTo>
                    <a:pt x="5311321" y="2597546"/>
                    <a:pt x="5307904" y="2605796"/>
                    <a:pt x="5301821" y="2611879"/>
                  </a:cubicBezTo>
                  <a:cubicBezTo>
                    <a:pt x="5295738" y="2617962"/>
                    <a:pt x="5287488" y="2621379"/>
                    <a:pt x="5278885" y="2621379"/>
                  </a:cubicBezTo>
                  <a:lnTo>
                    <a:pt x="32436" y="2621379"/>
                  </a:lnTo>
                  <a:cubicBezTo>
                    <a:pt x="14522" y="2621379"/>
                    <a:pt x="0" y="2606857"/>
                    <a:pt x="0" y="2588943"/>
                  </a:cubicBezTo>
                  <a:lnTo>
                    <a:pt x="0" y="32436"/>
                  </a:lnTo>
                  <a:cubicBezTo>
                    <a:pt x="0" y="23833"/>
                    <a:pt x="3417" y="15583"/>
                    <a:pt x="9500" y="9500"/>
                  </a:cubicBezTo>
                  <a:cubicBezTo>
                    <a:pt x="15583" y="3417"/>
                    <a:pt x="23833" y="0"/>
                    <a:pt x="32436"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8" id="8"/>
            <p:cNvSpPr txBox="true"/>
            <p:nvPr/>
          </p:nvSpPr>
          <p:spPr>
            <a:xfrm>
              <a:off x="0" y="-38100"/>
              <a:ext cx="5311321" cy="2659479"/>
            </a:xfrm>
            <a:prstGeom prst="rect">
              <a:avLst/>
            </a:prstGeom>
          </p:spPr>
          <p:txBody>
            <a:bodyPr anchor="ctr" rtlCol="false" tIns="50800" lIns="50800" bIns="50800" rIns="50800"/>
            <a:lstStyle/>
            <a:p>
              <a:pPr algn="ctr">
                <a:lnSpc>
                  <a:spcPts val="2659"/>
                </a:lnSpc>
              </a:pPr>
              <a:r>
                <a:rPr lang="en-US" sz="1899">
                  <a:solidFill>
                    <a:srgbClr val="FFFFFF"/>
                  </a:solidFill>
                  <a:latin typeface="Noto Sans"/>
                  <a:ea typeface="Noto Sans"/>
                  <a:cs typeface="Noto Sans"/>
                  <a:sym typeface="Noto Sans"/>
                </a:rPr>
                <a:t>  </a:t>
              </a:r>
            </a:p>
          </p:txBody>
        </p:sp>
      </p:grpSp>
      <p:sp>
        <p:nvSpPr>
          <p:cNvPr name="TextBox 9" id="9"/>
          <p:cNvSpPr txBox="true"/>
          <p:nvPr/>
        </p:nvSpPr>
        <p:spPr>
          <a:xfrm rot="0">
            <a:off x="2003040" y="3743582"/>
            <a:ext cx="8926678" cy="4861534"/>
          </a:xfrm>
          <a:prstGeom prst="rect">
            <a:avLst/>
          </a:prstGeom>
        </p:spPr>
        <p:txBody>
          <a:bodyPr anchor="t" rtlCol="false" tIns="0" lIns="0" bIns="0" rIns="0">
            <a:spAutoFit/>
          </a:bodyPr>
          <a:lstStyle/>
          <a:p>
            <a:pPr algn="l">
              <a:lnSpc>
                <a:spcPts val="9614"/>
              </a:lnSpc>
            </a:pPr>
            <a:r>
              <a:rPr lang="en-US" sz="9519" b="true">
                <a:solidFill>
                  <a:srgbClr val="35383B"/>
                </a:solidFill>
                <a:latin typeface="Proxima Nova Heavy"/>
                <a:ea typeface="Proxima Nova Heavy"/>
                <a:cs typeface="Proxima Nova Heavy"/>
                <a:sym typeface="Proxima Nova Heavy"/>
              </a:rPr>
              <a:t>PHẦN 3: </a:t>
            </a:r>
            <a:r>
              <a:rPr lang="en-US" b="true" sz="9519">
                <a:solidFill>
                  <a:srgbClr val="35383B"/>
                </a:solidFill>
                <a:latin typeface="Proxima Nova Heavy"/>
                <a:ea typeface="Proxima Nova Heavy"/>
                <a:cs typeface="Proxima Nova Heavy"/>
                <a:sym typeface="Proxima Nova Heavy"/>
              </a:rPr>
              <a:t>NỘI DUNG CHI TIẾT KIỂM THỬ</a:t>
            </a:r>
          </a:p>
          <a:p>
            <a:pPr algn="l">
              <a:lnSpc>
                <a:spcPts val="9614"/>
              </a:lnSpc>
            </a:pPr>
          </a:p>
        </p:txBody>
      </p:sp>
      <p:grpSp>
        <p:nvGrpSpPr>
          <p:cNvPr name="Group 10" id="10"/>
          <p:cNvGrpSpPr/>
          <p:nvPr/>
        </p:nvGrpSpPr>
        <p:grpSpPr>
          <a:xfrm rot="0">
            <a:off x="1802910" y="2057257"/>
            <a:ext cx="1237362" cy="1237362"/>
            <a:chOff x="0" y="0"/>
            <a:chExt cx="1649816" cy="1649816"/>
          </a:xfrm>
        </p:grpSpPr>
        <p:grpSp>
          <p:nvGrpSpPr>
            <p:cNvPr name="Group 11" id="11"/>
            <p:cNvGrpSpPr/>
            <p:nvPr/>
          </p:nvGrpSpPr>
          <p:grpSpPr>
            <a:xfrm rot="0">
              <a:off x="0" y="0"/>
              <a:ext cx="1649816" cy="1649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rnd">
                <a:noFill/>
                <a:prstDash val="solid"/>
                <a:round/>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167176" y="313303"/>
              <a:ext cx="1247733" cy="986376"/>
            </a:xfrm>
            <a:prstGeom prst="rect">
              <a:avLst/>
            </a:prstGeom>
          </p:spPr>
          <p:txBody>
            <a:bodyPr anchor="t" rtlCol="false" tIns="0" lIns="0" bIns="0" rIns="0">
              <a:spAutoFit/>
            </a:bodyPr>
            <a:lstStyle/>
            <a:p>
              <a:pPr algn="ctr">
                <a:lnSpc>
                  <a:spcPts val="6205"/>
                </a:lnSpc>
                <a:spcBef>
                  <a:spcPct val="0"/>
                </a:spcBef>
              </a:pPr>
              <a:r>
                <a:rPr lang="en-US" b="true" sz="4432">
                  <a:solidFill>
                    <a:srgbClr val="FFFFFF"/>
                  </a:solidFill>
                  <a:latin typeface="Proxima Nova Heavy"/>
                  <a:ea typeface="Proxima Nova Heavy"/>
                  <a:cs typeface="Proxima Nova Heavy"/>
                  <a:sym typeface="Proxima Nova Heavy"/>
                </a:rPr>
                <a:t>01</a:t>
              </a:r>
            </a:p>
          </p:txBody>
        </p:sp>
      </p:grpSp>
      <p:sp>
        <p:nvSpPr>
          <p:cNvPr name="Freeform 15" id="15"/>
          <p:cNvSpPr/>
          <p:nvPr/>
        </p:nvSpPr>
        <p:spPr>
          <a:xfrm flipH="false" flipV="false" rot="0">
            <a:off x="11109435" y="2212626"/>
            <a:ext cx="6551829" cy="6551829"/>
          </a:xfrm>
          <a:custGeom>
            <a:avLst/>
            <a:gdLst/>
            <a:ahLst/>
            <a:cxnLst/>
            <a:rect r="r" b="b" t="t" l="l"/>
            <a:pathLst>
              <a:path h="6551829" w="6551829">
                <a:moveTo>
                  <a:pt x="0" y="0"/>
                </a:moveTo>
                <a:lnTo>
                  <a:pt x="6551829" y="0"/>
                </a:lnTo>
                <a:lnTo>
                  <a:pt x="6551829" y="6551829"/>
                </a:lnTo>
                <a:lnTo>
                  <a:pt x="0" y="6551829"/>
                </a:lnTo>
                <a:lnTo>
                  <a:pt x="0" y="0"/>
                </a:lnTo>
                <a:close/>
              </a:path>
            </a:pathLst>
          </a:custGeom>
          <a:blipFill>
            <a:blip r:embed="rId3"/>
            <a:stretch>
              <a:fillRect l="0" t="0" r="0" b="0"/>
            </a:stretch>
          </a:blipFill>
        </p:spPr>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6639491" cy="11520165"/>
            <a:chOff x="0" y="0"/>
            <a:chExt cx="4382417" cy="3034118"/>
          </a:xfrm>
        </p:grpSpPr>
        <p:sp>
          <p:nvSpPr>
            <p:cNvPr name="Freeform 4" id="4"/>
            <p:cNvSpPr/>
            <p:nvPr/>
          </p:nvSpPr>
          <p:spPr>
            <a:xfrm flipH="false" flipV="false" rot="0">
              <a:off x="0" y="0"/>
              <a:ext cx="4382417" cy="3034118"/>
            </a:xfrm>
            <a:custGeom>
              <a:avLst/>
              <a:gdLst/>
              <a:ahLst/>
              <a:cxnLst/>
              <a:rect r="r" b="b" t="t" l="l"/>
              <a:pathLst>
                <a:path h="3034118" w="4382417">
                  <a:moveTo>
                    <a:pt x="0" y="0"/>
                  </a:moveTo>
                  <a:lnTo>
                    <a:pt x="4382417" y="0"/>
                  </a:lnTo>
                  <a:lnTo>
                    <a:pt x="4382417"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4382417"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1138229"/>
            <a:ext cx="16230600" cy="8010541"/>
            <a:chOff x="0" y="0"/>
            <a:chExt cx="5311321" cy="2621379"/>
          </a:xfrm>
        </p:grpSpPr>
        <p:sp>
          <p:nvSpPr>
            <p:cNvPr name="Freeform 7" id="7"/>
            <p:cNvSpPr/>
            <p:nvPr/>
          </p:nvSpPr>
          <p:spPr>
            <a:xfrm flipH="false" flipV="false" rot="0">
              <a:off x="0" y="0"/>
              <a:ext cx="5311321" cy="2621379"/>
            </a:xfrm>
            <a:custGeom>
              <a:avLst/>
              <a:gdLst/>
              <a:ahLst/>
              <a:cxnLst/>
              <a:rect r="r" b="b" t="t" l="l"/>
              <a:pathLst>
                <a:path h="2621379" w="5311321">
                  <a:moveTo>
                    <a:pt x="32436" y="0"/>
                  </a:moveTo>
                  <a:lnTo>
                    <a:pt x="5278885" y="0"/>
                  </a:lnTo>
                  <a:cubicBezTo>
                    <a:pt x="5287488" y="0"/>
                    <a:pt x="5295738" y="3417"/>
                    <a:pt x="5301821" y="9500"/>
                  </a:cubicBezTo>
                  <a:cubicBezTo>
                    <a:pt x="5307904" y="15583"/>
                    <a:pt x="5311321" y="23833"/>
                    <a:pt x="5311321" y="32436"/>
                  </a:cubicBezTo>
                  <a:lnTo>
                    <a:pt x="5311321" y="2588943"/>
                  </a:lnTo>
                  <a:cubicBezTo>
                    <a:pt x="5311321" y="2597546"/>
                    <a:pt x="5307904" y="2605796"/>
                    <a:pt x="5301821" y="2611879"/>
                  </a:cubicBezTo>
                  <a:cubicBezTo>
                    <a:pt x="5295738" y="2617962"/>
                    <a:pt x="5287488" y="2621379"/>
                    <a:pt x="5278885" y="2621379"/>
                  </a:cubicBezTo>
                  <a:lnTo>
                    <a:pt x="32436" y="2621379"/>
                  </a:lnTo>
                  <a:cubicBezTo>
                    <a:pt x="14522" y="2621379"/>
                    <a:pt x="0" y="2606857"/>
                    <a:pt x="0" y="2588943"/>
                  </a:cubicBezTo>
                  <a:lnTo>
                    <a:pt x="0" y="32436"/>
                  </a:lnTo>
                  <a:cubicBezTo>
                    <a:pt x="0" y="23833"/>
                    <a:pt x="3417" y="15583"/>
                    <a:pt x="9500" y="9500"/>
                  </a:cubicBezTo>
                  <a:cubicBezTo>
                    <a:pt x="15583" y="3417"/>
                    <a:pt x="23833" y="0"/>
                    <a:pt x="32436"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8" id="8"/>
            <p:cNvSpPr txBox="true"/>
            <p:nvPr/>
          </p:nvSpPr>
          <p:spPr>
            <a:xfrm>
              <a:off x="0" y="-38100"/>
              <a:ext cx="5311321" cy="2659479"/>
            </a:xfrm>
            <a:prstGeom prst="rect">
              <a:avLst/>
            </a:prstGeom>
          </p:spPr>
          <p:txBody>
            <a:bodyPr anchor="ctr" rtlCol="false" tIns="50800" lIns="50800" bIns="50800" rIns="50800"/>
            <a:lstStyle/>
            <a:p>
              <a:pPr algn="ctr">
                <a:lnSpc>
                  <a:spcPts val="2659"/>
                </a:lnSpc>
              </a:pPr>
              <a:r>
                <a:rPr lang="en-US" sz="1899">
                  <a:solidFill>
                    <a:srgbClr val="FFFFFF"/>
                  </a:solidFill>
                  <a:latin typeface="Noto Sans"/>
                  <a:ea typeface="Noto Sans"/>
                  <a:cs typeface="Noto Sans"/>
                  <a:sym typeface="Noto Sans"/>
                </a:rPr>
                <a:t>  </a:t>
              </a:r>
            </a:p>
          </p:txBody>
        </p:sp>
      </p:grpSp>
      <p:sp>
        <p:nvSpPr>
          <p:cNvPr name="TextBox 9" id="9"/>
          <p:cNvSpPr txBox="true"/>
          <p:nvPr/>
        </p:nvSpPr>
        <p:spPr>
          <a:xfrm rot="0">
            <a:off x="2003040" y="3743582"/>
            <a:ext cx="8926678" cy="4861534"/>
          </a:xfrm>
          <a:prstGeom prst="rect">
            <a:avLst/>
          </a:prstGeom>
        </p:spPr>
        <p:txBody>
          <a:bodyPr anchor="t" rtlCol="false" tIns="0" lIns="0" bIns="0" rIns="0">
            <a:spAutoFit/>
          </a:bodyPr>
          <a:lstStyle/>
          <a:p>
            <a:pPr algn="l">
              <a:lnSpc>
                <a:spcPts val="9614"/>
              </a:lnSpc>
            </a:pPr>
            <a:r>
              <a:rPr lang="en-US" sz="9519" b="true">
                <a:solidFill>
                  <a:srgbClr val="35383B"/>
                </a:solidFill>
                <a:latin typeface="Proxima Nova Heavy"/>
                <a:ea typeface="Proxima Nova Heavy"/>
                <a:cs typeface="Proxima Nova Heavy"/>
                <a:sym typeface="Proxima Nova Heavy"/>
              </a:rPr>
              <a:t>PHẦN 4 :ĐÁNH </a:t>
            </a:r>
            <a:r>
              <a:rPr lang="en-US" b="true" sz="9519">
                <a:solidFill>
                  <a:srgbClr val="35383B"/>
                </a:solidFill>
                <a:latin typeface="Proxima Nova Heavy"/>
                <a:ea typeface="Proxima Nova Heavy"/>
                <a:cs typeface="Proxima Nova Heavy"/>
                <a:sym typeface="Proxima Nova Heavy"/>
              </a:rPr>
              <a:t>GIÁ KẾT QUẢ &amp; ĐÁNH GIÁ</a:t>
            </a:r>
          </a:p>
          <a:p>
            <a:pPr algn="l">
              <a:lnSpc>
                <a:spcPts val="9614"/>
              </a:lnSpc>
            </a:pPr>
          </a:p>
        </p:txBody>
      </p:sp>
      <p:grpSp>
        <p:nvGrpSpPr>
          <p:cNvPr name="Group 10" id="10"/>
          <p:cNvGrpSpPr/>
          <p:nvPr/>
        </p:nvGrpSpPr>
        <p:grpSpPr>
          <a:xfrm rot="0">
            <a:off x="1802910" y="2057257"/>
            <a:ext cx="1237362" cy="1237362"/>
            <a:chOff x="0" y="0"/>
            <a:chExt cx="1649816" cy="1649816"/>
          </a:xfrm>
        </p:grpSpPr>
        <p:grpSp>
          <p:nvGrpSpPr>
            <p:cNvPr name="Group 11" id="11"/>
            <p:cNvGrpSpPr/>
            <p:nvPr/>
          </p:nvGrpSpPr>
          <p:grpSpPr>
            <a:xfrm rot="0">
              <a:off x="0" y="0"/>
              <a:ext cx="1649816" cy="164981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a:ln cap="rnd">
                <a:noFill/>
                <a:prstDash val="solid"/>
                <a:round/>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4" id="14"/>
            <p:cNvSpPr txBox="true"/>
            <p:nvPr/>
          </p:nvSpPr>
          <p:spPr>
            <a:xfrm rot="0">
              <a:off x="167176" y="313303"/>
              <a:ext cx="1247733" cy="986376"/>
            </a:xfrm>
            <a:prstGeom prst="rect">
              <a:avLst/>
            </a:prstGeom>
          </p:spPr>
          <p:txBody>
            <a:bodyPr anchor="t" rtlCol="false" tIns="0" lIns="0" bIns="0" rIns="0">
              <a:spAutoFit/>
            </a:bodyPr>
            <a:lstStyle/>
            <a:p>
              <a:pPr algn="ctr">
                <a:lnSpc>
                  <a:spcPts val="6205"/>
                </a:lnSpc>
                <a:spcBef>
                  <a:spcPct val="0"/>
                </a:spcBef>
              </a:pPr>
              <a:r>
                <a:rPr lang="en-US" b="true" sz="4432">
                  <a:solidFill>
                    <a:srgbClr val="FFFFFF"/>
                  </a:solidFill>
                  <a:latin typeface="Proxima Nova Heavy"/>
                  <a:ea typeface="Proxima Nova Heavy"/>
                  <a:cs typeface="Proxima Nova Heavy"/>
                  <a:sym typeface="Proxima Nova Heavy"/>
                </a:rPr>
                <a:t>01</a:t>
              </a:r>
            </a:p>
          </p:txBody>
        </p:sp>
      </p:grpSp>
      <p:sp>
        <p:nvSpPr>
          <p:cNvPr name="Freeform 15" id="15"/>
          <p:cNvSpPr/>
          <p:nvPr/>
        </p:nvSpPr>
        <p:spPr>
          <a:xfrm flipH="false" flipV="false" rot="0">
            <a:off x="11109435" y="2212626"/>
            <a:ext cx="6551829" cy="6551829"/>
          </a:xfrm>
          <a:custGeom>
            <a:avLst/>
            <a:gdLst/>
            <a:ahLst/>
            <a:cxnLst/>
            <a:rect r="r" b="b" t="t" l="l"/>
            <a:pathLst>
              <a:path h="6551829" w="6551829">
                <a:moveTo>
                  <a:pt x="0" y="0"/>
                </a:moveTo>
                <a:lnTo>
                  <a:pt x="6551829" y="0"/>
                </a:lnTo>
                <a:lnTo>
                  <a:pt x="6551829" y="6551829"/>
                </a:lnTo>
                <a:lnTo>
                  <a:pt x="0" y="6551829"/>
                </a:lnTo>
                <a:lnTo>
                  <a:pt x="0" y="0"/>
                </a:lnTo>
                <a:close/>
              </a:path>
            </a:pathLst>
          </a:custGeom>
          <a:blipFill>
            <a:blip r:embed="rId3"/>
            <a:stretch>
              <a:fillRect l="0" t="0" r="0" b="0"/>
            </a:stretch>
          </a:blipFill>
        </p:spPr>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4223391" cy="11520165"/>
            <a:chOff x="0" y="0"/>
            <a:chExt cx="3746078" cy="3034118"/>
          </a:xfrm>
        </p:grpSpPr>
        <p:sp>
          <p:nvSpPr>
            <p:cNvPr name="Freeform 4" id="4"/>
            <p:cNvSpPr/>
            <p:nvPr/>
          </p:nvSpPr>
          <p:spPr>
            <a:xfrm flipH="false" flipV="false" rot="0">
              <a:off x="0" y="0"/>
              <a:ext cx="3746078" cy="3034118"/>
            </a:xfrm>
            <a:custGeom>
              <a:avLst/>
              <a:gdLst/>
              <a:ahLst/>
              <a:cxnLst/>
              <a:rect r="r" b="b" t="t" l="l"/>
              <a:pathLst>
                <a:path h="3034118" w="3746078">
                  <a:moveTo>
                    <a:pt x="0" y="0"/>
                  </a:moveTo>
                  <a:lnTo>
                    <a:pt x="3746078" y="0"/>
                  </a:lnTo>
                  <a:lnTo>
                    <a:pt x="3746078"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3746078" cy="307221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028700" y="4162088"/>
            <a:ext cx="7791975" cy="5096212"/>
            <a:chOff x="0" y="0"/>
            <a:chExt cx="2482605" cy="1623707"/>
          </a:xfrm>
        </p:grpSpPr>
        <p:sp>
          <p:nvSpPr>
            <p:cNvPr name="Freeform 7" id="7"/>
            <p:cNvSpPr/>
            <p:nvPr/>
          </p:nvSpPr>
          <p:spPr>
            <a:xfrm flipH="false" flipV="false" rot="0">
              <a:off x="0" y="0"/>
              <a:ext cx="2482605" cy="1623707"/>
            </a:xfrm>
            <a:custGeom>
              <a:avLst/>
              <a:gdLst/>
              <a:ahLst/>
              <a:cxnLst/>
              <a:rect r="r" b="b" t="t" l="l"/>
              <a:pathLst>
                <a:path h="1623707" w="2482605">
                  <a:moveTo>
                    <a:pt x="32788" y="0"/>
                  </a:moveTo>
                  <a:lnTo>
                    <a:pt x="2449817" y="0"/>
                  </a:lnTo>
                  <a:cubicBezTo>
                    <a:pt x="2458513" y="0"/>
                    <a:pt x="2466853" y="3454"/>
                    <a:pt x="2473002" y="9603"/>
                  </a:cubicBezTo>
                  <a:cubicBezTo>
                    <a:pt x="2479151" y="15752"/>
                    <a:pt x="2482605" y="24092"/>
                    <a:pt x="2482605" y="32788"/>
                  </a:cubicBezTo>
                  <a:lnTo>
                    <a:pt x="2482605" y="1590919"/>
                  </a:lnTo>
                  <a:cubicBezTo>
                    <a:pt x="2482605" y="1599615"/>
                    <a:pt x="2479151" y="1607954"/>
                    <a:pt x="2473002" y="1614103"/>
                  </a:cubicBezTo>
                  <a:cubicBezTo>
                    <a:pt x="2466853" y="1620252"/>
                    <a:pt x="2458513" y="1623707"/>
                    <a:pt x="2449817" y="1623707"/>
                  </a:cubicBezTo>
                  <a:lnTo>
                    <a:pt x="32788" y="1623707"/>
                  </a:lnTo>
                  <a:cubicBezTo>
                    <a:pt x="24092" y="1623707"/>
                    <a:pt x="15752" y="1620252"/>
                    <a:pt x="9603" y="1614103"/>
                  </a:cubicBezTo>
                  <a:cubicBezTo>
                    <a:pt x="3454" y="1607954"/>
                    <a:pt x="0" y="1599615"/>
                    <a:pt x="0" y="1590919"/>
                  </a:cubicBezTo>
                  <a:lnTo>
                    <a:pt x="0" y="32788"/>
                  </a:lnTo>
                  <a:cubicBezTo>
                    <a:pt x="0" y="24092"/>
                    <a:pt x="3454" y="15752"/>
                    <a:pt x="9603" y="9603"/>
                  </a:cubicBezTo>
                  <a:cubicBezTo>
                    <a:pt x="15752" y="3454"/>
                    <a:pt x="24092" y="0"/>
                    <a:pt x="32788"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8" id="8"/>
            <p:cNvSpPr txBox="true"/>
            <p:nvPr/>
          </p:nvSpPr>
          <p:spPr>
            <a:xfrm>
              <a:off x="0" y="-38100"/>
              <a:ext cx="2482605" cy="166180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467325" y="4162088"/>
            <a:ext cx="7791975" cy="5096212"/>
            <a:chOff x="0" y="0"/>
            <a:chExt cx="2482605" cy="1623707"/>
          </a:xfrm>
        </p:grpSpPr>
        <p:sp>
          <p:nvSpPr>
            <p:cNvPr name="Freeform 10" id="10"/>
            <p:cNvSpPr/>
            <p:nvPr/>
          </p:nvSpPr>
          <p:spPr>
            <a:xfrm flipH="false" flipV="false" rot="0">
              <a:off x="0" y="0"/>
              <a:ext cx="2482605" cy="1623707"/>
            </a:xfrm>
            <a:custGeom>
              <a:avLst/>
              <a:gdLst/>
              <a:ahLst/>
              <a:cxnLst/>
              <a:rect r="r" b="b" t="t" l="l"/>
              <a:pathLst>
                <a:path h="1623707" w="2482605">
                  <a:moveTo>
                    <a:pt x="32788" y="0"/>
                  </a:moveTo>
                  <a:lnTo>
                    <a:pt x="2449817" y="0"/>
                  </a:lnTo>
                  <a:cubicBezTo>
                    <a:pt x="2458513" y="0"/>
                    <a:pt x="2466853" y="3454"/>
                    <a:pt x="2473002" y="9603"/>
                  </a:cubicBezTo>
                  <a:cubicBezTo>
                    <a:pt x="2479151" y="15752"/>
                    <a:pt x="2482605" y="24092"/>
                    <a:pt x="2482605" y="32788"/>
                  </a:cubicBezTo>
                  <a:lnTo>
                    <a:pt x="2482605" y="1590919"/>
                  </a:lnTo>
                  <a:cubicBezTo>
                    <a:pt x="2482605" y="1599615"/>
                    <a:pt x="2479151" y="1607954"/>
                    <a:pt x="2473002" y="1614103"/>
                  </a:cubicBezTo>
                  <a:cubicBezTo>
                    <a:pt x="2466853" y="1620252"/>
                    <a:pt x="2458513" y="1623707"/>
                    <a:pt x="2449817" y="1623707"/>
                  </a:cubicBezTo>
                  <a:lnTo>
                    <a:pt x="32788" y="1623707"/>
                  </a:lnTo>
                  <a:cubicBezTo>
                    <a:pt x="24092" y="1623707"/>
                    <a:pt x="15752" y="1620252"/>
                    <a:pt x="9603" y="1614103"/>
                  </a:cubicBezTo>
                  <a:cubicBezTo>
                    <a:pt x="3454" y="1607954"/>
                    <a:pt x="0" y="1599615"/>
                    <a:pt x="0" y="1590919"/>
                  </a:cubicBezTo>
                  <a:lnTo>
                    <a:pt x="0" y="32788"/>
                  </a:lnTo>
                  <a:cubicBezTo>
                    <a:pt x="0" y="24092"/>
                    <a:pt x="3454" y="15752"/>
                    <a:pt x="9603" y="9603"/>
                  </a:cubicBezTo>
                  <a:cubicBezTo>
                    <a:pt x="15752" y="3454"/>
                    <a:pt x="24092" y="0"/>
                    <a:pt x="32788" y="0"/>
                  </a:cubicBezTo>
                  <a:close/>
                </a:path>
              </a:pathLst>
            </a:custGeom>
            <a:solidFill>
              <a:srgbClr val="FFFFFF"/>
            </a:solidFill>
            <a:ln w="38100" cap="rnd">
              <a:gradFill>
                <a:gsLst>
                  <a:gs pos="0">
                    <a:srgbClr val="1966DF">
                      <a:alpha val="100000"/>
                    </a:srgbClr>
                  </a:gs>
                  <a:gs pos="100000">
                    <a:srgbClr val="92BFFF">
                      <a:alpha val="100000"/>
                    </a:srgbClr>
                  </a:gs>
                </a:gsLst>
                <a:lin ang="5400000"/>
              </a:gradFill>
              <a:prstDash val="solid"/>
              <a:round/>
            </a:ln>
          </p:spPr>
        </p:sp>
        <p:sp>
          <p:nvSpPr>
            <p:cNvPr name="TextBox 11" id="11"/>
            <p:cNvSpPr txBox="true"/>
            <p:nvPr/>
          </p:nvSpPr>
          <p:spPr>
            <a:xfrm>
              <a:off x="0" y="-38100"/>
              <a:ext cx="2482605" cy="1661807"/>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28700" y="4162088"/>
            <a:ext cx="7786138" cy="1251735"/>
            <a:chOff x="0" y="0"/>
            <a:chExt cx="2050670" cy="329675"/>
          </a:xfrm>
        </p:grpSpPr>
        <p:sp>
          <p:nvSpPr>
            <p:cNvPr name="Freeform 13" id="13"/>
            <p:cNvSpPr/>
            <p:nvPr/>
          </p:nvSpPr>
          <p:spPr>
            <a:xfrm flipH="false" flipV="false" rot="0">
              <a:off x="0" y="0"/>
              <a:ext cx="2050670" cy="329675"/>
            </a:xfrm>
            <a:custGeom>
              <a:avLst/>
              <a:gdLst/>
              <a:ahLst/>
              <a:cxnLst/>
              <a:rect r="r" b="b" t="t" l="l"/>
              <a:pathLst>
                <a:path h="329675" w="2050670">
                  <a:moveTo>
                    <a:pt x="32813" y="0"/>
                  </a:moveTo>
                  <a:lnTo>
                    <a:pt x="2017858" y="0"/>
                  </a:lnTo>
                  <a:cubicBezTo>
                    <a:pt x="2035979" y="0"/>
                    <a:pt x="2050670" y="14691"/>
                    <a:pt x="2050670" y="32813"/>
                  </a:cubicBezTo>
                  <a:lnTo>
                    <a:pt x="2050670" y="296862"/>
                  </a:lnTo>
                  <a:cubicBezTo>
                    <a:pt x="2050670" y="314984"/>
                    <a:pt x="2035979" y="329675"/>
                    <a:pt x="2017858" y="329675"/>
                  </a:cubicBezTo>
                  <a:lnTo>
                    <a:pt x="32813" y="329675"/>
                  </a:lnTo>
                  <a:cubicBezTo>
                    <a:pt x="24110" y="329675"/>
                    <a:pt x="15764" y="326218"/>
                    <a:pt x="9611" y="320064"/>
                  </a:cubicBezTo>
                  <a:cubicBezTo>
                    <a:pt x="3457" y="313911"/>
                    <a:pt x="0" y="305565"/>
                    <a:pt x="0" y="296862"/>
                  </a:cubicBezTo>
                  <a:lnTo>
                    <a:pt x="0" y="32813"/>
                  </a:lnTo>
                  <a:cubicBezTo>
                    <a:pt x="0" y="14691"/>
                    <a:pt x="14691" y="0"/>
                    <a:pt x="32813" y="0"/>
                  </a:cubicBez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14" id="14"/>
            <p:cNvSpPr txBox="true"/>
            <p:nvPr/>
          </p:nvSpPr>
          <p:spPr>
            <a:xfrm>
              <a:off x="0" y="-38100"/>
              <a:ext cx="2050670" cy="36777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467325" y="4162088"/>
            <a:ext cx="7786138" cy="1251735"/>
            <a:chOff x="0" y="0"/>
            <a:chExt cx="2050670" cy="329675"/>
          </a:xfrm>
        </p:grpSpPr>
        <p:sp>
          <p:nvSpPr>
            <p:cNvPr name="Freeform 16" id="16"/>
            <p:cNvSpPr/>
            <p:nvPr/>
          </p:nvSpPr>
          <p:spPr>
            <a:xfrm flipH="false" flipV="false" rot="0">
              <a:off x="0" y="0"/>
              <a:ext cx="2050670" cy="329675"/>
            </a:xfrm>
            <a:custGeom>
              <a:avLst/>
              <a:gdLst/>
              <a:ahLst/>
              <a:cxnLst/>
              <a:rect r="r" b="b" t="t" l="l"/>
              <a:pathLst>
                <a:path h="329675" w="2050670">
                  <a:moveTo>
                    <a:pt x="32813" y="0"/>
                  </a:moveTo>
                  <a:lnTo>
                    <a:pt x="2017858" y="0"/>
                  </a:lnTo>
                  <a:cubicBezTo>
                    <a:pt x="2035979" y="0"/>
                    <a:pt x="2050670" y="14691"/>
                    <a:pt x="2050670" y="32813"/>
                  </a:cubicBezTo>
                  <a:lnTo>
                    <a:pt x="2050670" y="296862"/>
                  </a:lnTo>
                  <a:cubicBezTo>
                    <a:pt x="2050670" y="314984"/>
                    <a:pt x="2035979" y="329675"/>
                    <a:pt x="2017858" y="329675"/>
                  </a:cubicBezTo>
                  <a:lnTo>
                    <a:pt x="32813" y="329675"/>
                  </a:lnTo>
                  <a:cubicBezTo>
                    <a:pt x="24110" y="329675"/>
                    <a:pt x="15764" y="326218"/>
                    <a:pt x="9611" y="320064"/>
                  </a:cubicBezTo>
                  <a:cubicBezTo>
                    <a:pt x="3457" y="313911"/>
                    <a:pt x="0" y="305565"/>
                    <a:pt x="0" y="296862"/>
                  </a:cubicBezTo>
                  <a:lnTo>
                    <a:pt x="0" y="32813"/>
                  </a:lnTo>
                  <a:cubicBezTo>
                    <a:pt x="0" y="14691"/>
                    <a:pt x="14691" y="0"/>
                    <a:pt x="32813" y="0"/>
                  </a:cubicBezTo>
                  <a:close/>
                </a:path>
              </a:pathLst>
            </a:custGeom>
            <a:gradFill rotWithShape="true">
              <a:gsLst>
                <a:gs pos="0">
                  <a:srgbClr val="92BFFF">
                    <a:alpha val="100000"/>
                  </a:srgbClr>
                </a:gs>
                <a:gs pos="50000">
                  <a:srgbClr val="3483FF">
                    <a:alpha val="100000"/>
                  </a:srgbClr>
                </a:gs>
                <a:gs pos="100000">
                  <a:srgbClr val="1966DF">
                    <a:alpha val="100000"/>
                  </a:srgbClr>
                </a:gs>
              </a:gsLst>
              <a:lin ang="0"/>
            </a:gradFill>
          </p:spPr>
        </p:sp>
        <p:sp>
          <p:nvSpPr>
            <p:cNvPr name="TextBox 17" id="17"/>
            <p:cNvSpPr txBox="true"/>
            <p:nvPr/>
          </p:nvSpPr>
          <p:spPr>
            <a:xfrm>
              <a:off x="0" y="-38100"/>
              <a:ext cx="2050670" cy="36777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28700" y="4787955"/>
            <a:ext cx="7786138" cy="625867"/>
            <a:chOff x="0" y="0"/>
            <a:chExt cx="2050670" cy="164838"/>
          </a:xfrm>
        </p:grpSpPr>
        <p:sp>
          <p:nvSpPr>
            <p:cNvPr name="Freeform 19" id="19"/>
            <p:cNvSpPr/>
            <p:nvPr/>
          </p:nvSpPr>
          <p:spPr>
            <a:xfrm flipH="false" flipV="false" rot="0">
              <a:off x="0" y="0"/>
              <a:ext cx="2050670" cy="164838"/>
            </a:xfrm>
            <a:custGeom>
              <a:avLst/>
              <a:gdLst/>
              <a:ahLst/>
              <a:cxnLst/>
              <a:rect r="r" b="b" t="t" l="l"/>
              <a:pathLst>
                <a:path h="164838" w="2050670">
                  <a:moveTo>
                    <a:pt x="0" y="0"/>
                  </a:moveTo>
                  <a:lnTo>
                    <a:pt x="2050670" y="0"/>
                  </a:lnTo>
                  <a:lnTo>
                    <a:pt x="2050670" y="164838"/>
                  </a:lnTo>
                  <a:lnTo>
                    <a:pt x="0" y="164838"/>
                  </a:lnTo>
                  <a:close/>
                </a:path>
              </a:pathLst>
            </a:custGeom>
            <a:gradFill rotWithShape="true">
              <a:gsLst>
                <a:gs pos="0">
                  <a:srgbClr val="1966DF">
                    <a:alpha val="100000"/>
                  </a:srgbClr>
                </a:gs>
                <a:gs pos="50000">
                  <a:srgbClr val="3483FF">
                    <a:alpha val="100000"/>
                  </a:srgbClr>
                </a:gs>
                <a:gs pos="100000">
                  <a:srgbClr val="92BFFF">
                    <a:alpha val="100000"/>
                  </a:srgbClr>
                </a:gs>
              </a:gsLst>
              <a:lin ang="0"/>
            </a:gradFill>
          </p:spPr>
        </p:sp>
        <p:sp>
          <p:nvSpPr>
            <p:cNvPr name="TextBox 20" id="20"/>
            <p:cNvSpPr txBox="true"/>
            <p:nvPr/>
          </p:nvSpPr>
          <p:spPr>
            <a:xfrm>
              <a:off x="0" y="-38100"/>
              <a:ext cx="2050670" cy="202938"/>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9467325" y="4787955"/>
            <a:ext cx="7786138" cy="625867"/>
            <a:chOff x="0" y="0"/>
            <a:chExt cx="2050670" cy="164838"/>
          </a:xfrm>
        </p:grpSpPr>
        <p:sp>
          <p:nvSpPr>
            <p:cNvPr name="Freeform 22" id="22"/>
            <p:cNvSpPr/>
            <p:nvPr/>
          </p:nvSpPr>
          <p:spPr>
            <a:xfrm flipH="false" flipV="false" rot="0">
              <a:off x="0" y="0"/>
              <a:ext cx="2050670" cy="164838"/>
            </a:xfrm>
            <a:custGeom>
              <a:avLst/>
              <a:gdLst/>
              <a:ahLst/>
              <a:cxnLst/>
              <a:rect r="r" b="b" t="t" l="l"/>
              <a:pathLst>
                <a:path h="164838" w="2050670">
                  <a:moveTo>
                    <a:pt x="0" y="0"/>
                  </a:moveTo>
                  <a:lnTo>
                    <a:pt x="2050670" y="0"/>
                  </a:lnTo>
                  <a:lnTo>
                    <a:pt x="2050670" y="164838"/>
                  </a:lnTo>
                  <a:lnTo>
                    <a:pt x="0" y="164838"/>
                  </a:lnTo>
                  <a:close/>
                </a:path>
              </a:pathLst>
            </a:custGeom>
            <a:gradFill rotWithShape="true">
              <a:gsLst>
                <a:gs pos="0">
                  <a:srgbClr val="92BFFF">
                    <a:alpha val="100000"/>
                  </a:srgbClr>
                </a:gs>
                <a:gs pos="50000">
                  <a:srgbClr val="3483FF">
                    <a:alpha val="100000"/>
                  </a:srgbClr>
                </a:gs>
                <a:gs pos="100000">
                  <a:srgbClr val="1966DF">
                    <a:alpha val="100000"/>
                  </a:srgbClr>
                </a:gs>
              </a:gsLst>
              <a:lin ang="0"/>
            </a:gradFill>
          </p:spPr>
        </p:sp>
        <p:sp>
          <p:nvSpPr>
            <p:cNvPr name="TextBox 23" id="23"/>
            <p:cNvSpPr txBox="true"/>
            <p:nvPr/>
          </p:nvSpPr>
          <p:spPr>
            <a:xfrm>
              <a:off x="0" y="-38100"/>
              <a:ext cx="2050670" cy="202938"/>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028700" y="1171338"/>
            <a:ext cx="13338424" cy="825881"/>
          </a:xfrm>
          <a:prstGeom prst="rect">
            <a:avLst/>
          </a:prstGeom>
        </p:spPr>
        <p:txBody>
          <a:bodyPr anchor="t" rtlCol="false" tIns="0" lIns="0" bIns="0" rIns="0">
            <a:spAutoFit/>
          </a:bodyPr>
          <a:lstStyle/>
          <a:p>
            <a:pPr algn="l">
              <a:lnSpc>
                <a:spcPts val="6262"/>
              </a:lnSpc>
            </a:pPr>
            <a:r>
              <a:rPr lang="en-US" b="true" sz="6200">
                <a:solidFill>
                  <a:srgbClr val="35383B"/>
                </a:solidFill>
                <a:latin typeface="Proxima Nova Heavy"/>
                <a:ea typeface="Proxima Nova Heavy"/>
                <a:cs typeface="Proxima Nova Heavy"/>
                <a:sym typeface="Proxima Nova Heavy"/>
              </a:rPr>
              <a:t>ĐÁNH GIÁ HIỆU QUẢ</a:t>
            </a:r>
          </a:p>
        </p:txBody>
      </p:sp>
      <p:sp>
        <p:nvSpPr>
          <p:cNvPr name="TextBox 25" id="25"/>
          <p:cNvSpPr txBox="true"/>
          <p:nvPr/>
        </p:nvSpPr>
        <p:spPr>
          <a:xfrm rot="0">
            <a:off x="1028700" y="4601894"/>
            <a:ext cx="7786138" cy="521895"/>
          </a:xfrm>
          <a:prstGeom prst="rect">
            <a:avLst/>
          </a:prstGeom>
        </p:spPr>
        <p:txBody>
          <a:bodyPr anchor="t" rtlCol="false" tIns="0" lIns="0" bIns="0" rIns="0">
            <a:spAutoFit/>
          </a:bodyPr>
          <a:lstStyle/>
          <a:p>
            <a:pPr algn="ctr">
              <a:lnSpc>
                <a:spcPts val="3903"/>
              </a:lnSpc>
            </a:pPr>
            <a:r>
              <a:rPr lang="en-US" b="true" sz="3865">
                <a:solidFill>
                  <a:srgbClr val="FFFFFF"/>
                </a:solidFill>
                <a:latin typeface="Proxima Nova Heavy"/>
                <a:ea typeface="Proxima Nova Heavy"/>
                <a:cs typeface="Proxima Nova Heavy"/>
                <a:sym typeface="Proxima Nova Heavy"/>
              </a:rPr>
              <a:t>ĐÁNH GIÁ HỆ THỐNG WEB</a:t>
            </a:r>
          </a:p>
        </p:txBody>
      </p:sp>
      <p:sp>
        <p:nvSpPr>
          <p:cNvPr name="TextBox 26" id="26"/>
          <p:cNvSpPr txBox="true"/>
          <p:nvPr/>
        </p:nvSpPr>
        <p:spPr>
          <a:xfrm rot="0">
            <a:off x="9473162" y="4601894"/>
            <a:ext cx="7786138" cy="521895"/>
          </a:xfrm>
          <a:prstGeom prst="rect">
            <a:avLst/>
          </a:prstGeom>
        </p:spPr>
        <p:txBody>
          <a:bodyPr anchor="t" rtlCol="false" tIns="0" lIns="0" bIns="0" rIns="0">
            <a:spAutoFit/>
          </a:bodyPr>
          <a:lstStyle/>
          <a:p>
            <a:pPr algn="ctr">
              <a:lnSpc>
                <a:spcPts val="3903"/>
              </a:lnSpc>
            </a:pPr>
            <a:r>
              <a:rPr lang="en-US" b="true" sz="3865">
                <a:solidFill>
                  <a:srgbClr val="FFFFFF"/>
                </a:solidFill>
                <a:latin typeface="Proxima Nova Heavy"/>
                <a:ea typeface="Proxima Nova Heavy"/>
                <a:cs typeface="Proxima Nova Heavy"/>
                <a:sym typeface="Proxima Nova Heavy"/>
              </a:rPr>
              <a:t>ĐÁNH GIÁ VỀ PYTEST</a:t>
            </a:r>
          </a:p>
        </p:txBody>
      </p:sp>
      <p:sp>
        <p:nvSpPr>
          <p:cNvPr name="TextBox 27" id="27"/>
          <p:cNvSpPr txBox="true"/>
          <p:nvPr/>
        </p:nvSpPr>
        <p:spPr>
          <a:xfrm rot="0">
            <a:off x="1394414" y="5799649"/>
            <a:ext cx="6547224" cy="2806031"/>
          </a:xfrm>
          <a:prstGeom prst="rect">
            <a:avLst/>
          </a:prstGeom>
        </p:spPr>
        <p:txBody>
          <a:bodyPr anchor="t" rtlCol="false" tIns="0" lIns="0" bIns="0" rIns="0">
            <a:spAutoFit/>
          </a:bodyPr>
          <a:lstStyle/>
          <a:p>
            <a:pPr algn="l">
              <a:lnSpc>
                <a:spcPts val="3699"/>
              </a:lnSpc>
            </a:pPr>
            <a:r>
              <a:rPr lang="en-US" sz="3245" b="true">
                <a:solidFill>
                  <a:srgbClr val="35383B"/>
                </a:solidFill>
                <a:latin typeface="Proxima Nova Bold"/>
                <a:ea typeface="Proxima Nova Bold"/>
                <a:cs typeface="Proxima Nova Bold"/>
                <a:sym typeface="Proxima Nova Bold"/>
              </a:rPr>
              <a:t>-Màng lọc Laravel của hệ thống hoạt động vô cùng vững chắc. </a:t>
            </a:r>
          </a:p>
          <a:p>
            <a:pPr algn="l">
              <a:lnSpc>
                <a:spcPts val="3699"/>
              </a:lnSpc>
            </a:pPr>
            <a:r>
              <a:rPr lang="en-US" sz="3245" b="true">
                <a:solidFill>
                  <a:srgbClr val="35383B"/>
                </a:solidFill>
                <a:latin typeface="Proxima Nova Bold"/>
                <a:ea typeface="Proxima Nova Bold"/>
                <a:cs typeface="Proxima Nova Bold"/>
                <a:sym typeface="Proxima Nova Bold"/>
              </a:rPr>
              <a:t>-</a:t>
            </a:r>
            <a:r>
              <a:rPr lang="en-US" sz="3245" b="true">
                <a:solidFill>
                  <a:srgbClr val="35383B"/>
                </a:solidFill>
                <a:latin typeface="Proxima Nova Bold"/>
                <a:ea typeface="Proxima Nova Bold"/>
                <a:cs typeface="Proxima Nova Bold"/>
                <a:sym typeface="Proxima Nova Bold"/>
              </a:rPr>
              <a:t>Tỷ lệ cản phá mã độc đầu vào đạt 100%. Luồng tính toán không bị đứt gãy khi thay đổi phương thức giao hàng liên tục.</a:t>
            </a:r>
          </a:p>
        </p:txBody>
      </p:sp>
      <p:sp>
        <p:nvSpPr>
          <p:cNvPr name="TextBox 28" id="28"/>
          <p:cNvSpPr txBox="true"/>
          <p:nvPr/>
        </p:nvSpPr>
        <p:spPr>
          <a:xfrm rot="0">
            <a:off x="9932248" y="5671262"/>
            <a:ext cx="7060547" cy="2797302"/>
          </a:xfrm>
          <a:prstGeom prst="rect">
            <a:avLst/>
          </a:prstGeom>
        </p:spPr>
        <p:txBody>
          <a:bodyPr anchor="t" rtlCol="false" tIns="0" lIns="0" bIns="0" rIns="0">
            <a:spAutoFit/>
          </a:bodyPr>
          <a:lstStyle/>
          <a:p>
            <a:pPr algn="l">
              <a:lnSpc>
                <a:spcPts val="3648"/>
              </a:lnSpc>
            </a:pPr>
            <a:r>
              <a:rPr lang="en-US" sz="3200" b="true">
                <a:solidFill>
                  <a:srgbClr val="35383B"/>
                </a:solidFill>
                <a:latin typeface="Proxima Nova Bold"/>
                <a:ea typeface="Proxima Nova Bold"/>
                <a:cs typeface="Proxima Nova Bold"/>
                <a:sym typeface="Proxima Nova Bold"/>
              </a:rPr>
              <a:t>-Ưu điểm: Việc đẩy Pytest vào Notebook có thể trình diễn trực quan. </a:t>
            </a:r>
          </a:p>
          <a:p>
            <a:pPr algn="l">
              <a:lnSpc>
                <a:spcPts val="3648"/>
              </a:lnSpc>
            </a:pPr>
            <a:r>
              <a:rPr lang="en-US" sz="3200" b="true">
                <a:solidFill>
                  <a:srgbClr val="35383B"/>
                </a:solidFill>
                <a:latin typeface="Proxima Nova Bold"/>
                <a:ea typeface="Proxima Nova Bold"/>
                <a:cs typeface="Proxima Nova Bold"/>
                <a:sym typeface="Proxima Nova Bold"/>
              </a:rPr>
              <a:t>-</a:t>
            </a:r>
            <a:r>
              <a:rPr lang="en-US" sz="3200" b="true">
                <a:solidFill>
                  <a:srgbClr val="35383B"/>
                </a:solidFill>
                <a:latin typeface="Proxima Nova Bold"/>
                <a:ea typeface="Proxima Nova Bold"/>
                <a:cs typeface="Proxima Nova Bold"/>
                <a:sym typeface="Proxima Nova Bold"/>
              </a:rPr>
              <a:t>Kết luận: Mô hình Automation này đủ tầm vóc để áp dụng vào các dự án phần mềm thực tế tại doanh nghiệp.</a:t>
            </a:r>
          </a:p>
          <a:p>
            <a:pPr algn="l">
              <a:lnSpc>
                <a:spcPts val="3990"/>
              </a:lnSpc>
            </a:pP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593004">
            <a:off x="-747145" y="-1493177"/>
            <a:ext cx="19782289" cy="13273354"/>
          </a:xfrm>
          <a:custGeom>
            <a:avLst/>
            <a:gdLst/>
            <a:ahLst/>
            <a:cxnLst/>
            <a:rect r="r" b="b" t="t" l="l"/>
            <a:pathLst>
              <a:path h="13273354" w="19782289">
                <a:moveTo>
                  <a:pt x="18016589" y="0"/>
                </a:moveTo>
                <a:lnTo>
                  <a:pt x="0" y="3139023"/>
                </a:lnTo>
                <a:lnTo>
                  <a:pt x="1765701" y="13273354"/>
                </a:lnTo>
                <a:lnTo>
                  <a:pt x="19782290" y="10134331"/>
                </a:lnTo>
                <a:lnTo>
                  <a:pt x="18016589" y="0"/>
                </a:lnTo>
                <a:close/>
              </a:path>
            </a:pathLst>
          </a:custGeom>
          <a:blipFill>
            <a:blip r:embed="rId2"/>
            <a:stretch>
              <a:fillRect l="-23887" t="-8517" r="-5185" b="-35757"/>
            </a:stretch>
          </a:blipFill>
        </p:spPr>
      </p:sp>
      <p:grpSp>
        <p:nvGrpSpPr>
          <p:cNvPr name="Group 3" id="3"/>
          <p:cNvGrpSpPr/>
          <p:nvPr/>
        </p:nvGrpSpPr>
        <p:grpSpPr>
          <a:xfrm rot="0">
            <a:off x="-540645" y="-465202"/>
            <a:ext cx="14223391" cy="11520165"/>
            <a:chOff x="0" y="0"/>
            <a:chExt cx="3746078" cy="3034118"/>
          </a:xfrm>
        </p:grpSpPr>
        <p:sp>
          <p:nvSpPr>
            <p:cNvPr name="Freeform 4" id="4"/>
            <p:cNvSpPr/>
            <p:nvPr/>
          </p:nvSpPr>
          <p:spPr>
            <a:xfrm flipH="false" flipV="false" rot="0">
              <a:off x="0" y="0"/>
              <a:ext cx="3746078" cy="3034118"/>
            </a:xfrm>
            <a:custGeom>
              <a:avLst/>
              <a:gdLst/>
              <a:ahLst/>
              <a:cxnLst/>
              <a:rect r="r" b="b" t="t" l="l"/>
              <a:pathLst>
                <a:path h="3034118" w="3746078">
                  <a:moveTo>
                    <a:pt x="0" y="0"/>
                  </a:moveTo>
                  <a:lnTo>
                    <a:pt x="3746078" y="0"/>
                  </a:lnTo>
                  <a:lnTo>
                    <a:pt x="3746078" y="3034118"/>
                  </a:lnTo>
                  <a:lnTo>
                    <a:pt x="0" y="3034118"/>
                  </a:lnTo>
                  <a:close/>
                </a:path>
              </a:pathLst>
            </a:custGeom>
            <a:gradFill rotWithShape="true">
              <a:gsLst>
                <a:gs pos="0">
                  <a:srgbClr val="FFFFFF">
                    <a:alpha val="100000"/>
                  </a:srgbClr>
                </a:gs>
                <a:gs pos="100000">
                  <a:srgbClr val="FFFFFF">
                    <a:alpha val="0"/>
                  </a:srgbClr>
                </a:gs>
              </a:gsLst>
              <a:lin ang="0"/>
            </a:gradFill>
          </p:spPr>
        </p:sp>
        <p:sp>
          <p:nvSpPr>
            <p:cNvPr name="TextBox 5" id="5"/>
            <p:cNvSpPr txBox="true"/>
            <p:nvPr/>
          </p:nvSpPr>
          <p:spPr>
            <a:xfrm>
              <a:off x="0" y="-38100"/>
              <a:ext cx="3746078" cy="307221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201735" y="2881016"/>
            <a:ext cx="11395696" cy="3013974"/>
          </a:xfrm>
          <a:prstGeom prst="rect">
            <a:avLst/>
          </a:prstGeom>
        </p:spPr>
        <p:txBody>
          <a:bodyPr anchor="t" rtlCol="false" tIns="0" lIns="0" bIns="0" rIns="0">
            <a:spAutoFit/>
          </a:bodyPr>
          <a:lstStyle/>
          <a:p>
            <a:pPr algn="l">
              <a:lnSpc>
                <a:spcPts val="11517"/>
              </a:lnSpc>
            </a:pPr>
            <a:r>
              <a:rPr lang="en-US" b="true" sz="12123">
                <a:gradFill>
                  <a:gsLst>
                    <a:gs pos="0">
                      <a:srgbClr val="1966DF">
                        <a:alpha val="100000"/>
                      </a:srgbClr>
                    </a:gs>
                    <a:gs pos="50000">
                      <a:srgbClr val="3483FF">
                        <a:alpha val="100000"/>
                      </a:srgbClr>
                    </a:gs>
                    <a:gs pos="100000">
                      <a:srgbClr val="92BFFF">
                        <a:alpha val="100000"/>
                      </a:srgbClr>
                    </a:gs>
                  </a:gsLst>
                  <a:lin ang="0"/>
                </a:gradFill>
                <a:latin typeface="Proxima Nova Heavy"/>
                <a:ea typeface="Proxima Nova Heavy"/>
                <a:cs typeface="Proxima Nova Heavy"/>
                <a:sym typeface="Proxima Nova Heavy"/>
              </a:rPr>
              <a:t>TRÂN TRỌNG</a:t>
            </a:r>
          </a:p>
          <a:p>
            <a:pPr algn="l">
              <a:lnSpc>
                <a:spcPts val="11517"/>
              </a:lnSpc>
            </a:pPr>
            <a:r>
              <a:rPr lang="en-US" b="true" sz="12123">
                <a:gradFill>
                  <a:gsLst>
                    <a:gs pos="0">
                      <a:srgbClr val="1966DF">
                        <a:alpha val="100000"/>
                      </a:srgbClr>
                    </a:gs>
                    <a:gs pos="50000">
                      <a:srgbClr val="3483FF">
                        <a:alpha val="100000"/>
                      </a:srgbClr>
                    </a:gs>
                    <a:gs pos="100000">
                      <a:srgbClr val="92BFFF">
                        <a:alpha val="100000"/>
                      </a:srgbClr>
                    </a:gs>
                  </a:gsLst>
                  <a:lin ang="0"/>
                </a:gradFill>
                <a:latin typeface="Proxima Nova Heavy"/>
                <a:ea typeface="Proxima Nova Heavy"/>
                <a:cs typeface="Proxima Nova Heavy"/>
                <a:sym typeface="Proxima Nova Heavy"/>
              </a:rPr>
              <a:t>CẢM ƠN</a:t>
            </a: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DAHTT2L1HzU</dc:identifier>
  <dcterms:modified xsi:type="dcterms:W3CDTF">2011-08-01T06:04:30Z</dcterms:modified>
  <cp:revision>1</cp:revision>
  <dc:title>Báo cáo</dc:title>
</cp:coreProperties>
</file>